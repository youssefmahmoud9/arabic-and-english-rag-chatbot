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25092480fc4099" /><Relationship Type="http://schemas.openxmlformats.org/officeDocument/2006/relationships/extended-properties" Target="/docProps/app.xml" Id="Rd10bf18f350547da" /><Relationship Type="http://schemas.openxmlformats.org/officeDocument/2006/relationships/officeDocument" Target="/ppt/presentation.xml" Id="R9d56ac9ad5e24c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031cb7ea5e4d32"/>
  </p:sldMasterIdLst>
  <p:notesMasterIdLst>
    <p:notesMasterId xmlns:r="http://schemas.openxmlformats.org/officeDocument/2006/relationships" r:id="R2698217212424fe8"/>
  </p:notesMasterIdLst>
  <p:sldIdLst>
    <p:sldId xmlns:r="http://schemas.openxmlformats.org/officeDocument/2006/relationships" id="256" r:id="Rbe11c0f6daab461a"/>
    <p:sldId xmlns:r="http://schemas.openxmlformats.org/officeDocument/2006/relationships" id="257" r:id="R098997edec94443b"/>
    <p:sldId xmlns:r="http://schemas.openxmlformats.org/officeDocument/2006/relationships" id="258" r:id="Rb0e49223c3c4447f"/>
    <p:sldId xmlns:r="http://schemas.openxmlformats.org/officeDocument/2006/relationships" id="259" r:id="R4bce1ec724c9473b"/>
    <p:sldId xmlns:r="http://schemas.openxmlformats.org/officeDocument/2006/relationships" id="260" r:id="R3bfeb95687c343c5"/>
    <p:sldId xmlns:r="http://schemas.openxmlformats.org/officeDocument/2006/relationships" id="261" r:id="R66d6a84238144114"/>
    <p:sldId xmlns:r="http://schemas.openxmlformats.org/officeDocument/2006/relationships" id="262" r:id="R1b9e979555df4b50"/>
    <p:sldId xmlns:r="http://schemas.openxmlformats.org/officeDocument/2006/relationships" id="263" r:id="R008af8abaf1f42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501c44bca74ec3" /><Relationship Type="http://schemas.openxmlformats.org/officeDocument/2006/relationships/slideMaster" Target="/ppt/slideMasters/slideMaster1.xml" Id="R1b031cb7ea5e4d32" /><Relationship Type="http://schemas.openxmlformats.org/officeDocument/2006/relationships/notesMaster" Target="/ppt/notesMasters/notesMaster1.xml" Id="R2698217212424fe8" /><Relationship Type="http://schemas.openxmlformats.org/officeDocument/2006/relationships/presProps" Target="/ppt/presProps.xml" Id="Rda052bd821504920" /><Relationship Type="http://schemas.openxmlformats.org/officeDocument/2006/relationships/tableStyles" Target="/ppt/tableStyles.xml" Id="R4c4ec835382b4832" /><Relationship Type="http://schemas.openxmlformats.org/officeDocument/2006/relationships/slide" Target="/ppt/slides/slide1.xml" Id="Rbe11c0f6daab461a" /><Relationship Type="http://schemas.openxmlformats.org/officeDocument/2006/relationships/slide" Target="/ppt/slides/slide2.xml" Id="R098997edec94443b" /><Relationship Type="http://schemas.openxmlformats.org/officeDocument/2006/relationships/slide" Target="/ppt/slides/slide3.xml" Id="Rb0e49223c3c4447f" /><Relationship Type="http://schemas.openxmlformats.org/officeDocument/2006/relationships/slide" Target="/ppt/slides/slide4.xml" Id="R4bce1ec724c9473b" /><Relationship Type="http://schemas.openxmlformats.org/officeDocument/2006/relationships/slide" Target="/ppt/slides/slide5.xml" Id="R3bfeb95687c343c5" /><Relationship Type="http://schemas.openxmlformats.org/officeDocument/2006/relationships/slide" Target="/ppt/slides/slide6.xml" Id="R66d6a84238144114" /><Relationship Type="http://schemas.openxmlformats.org/officeDocument/2006/relationships/slide" Target="/ppt/slides/slide7.xml" Id="R1b9e979555df4b50" /><Relationship Type="http://schemas.openxmlformats.org/officeDocument/2006/relationships/slide" Target="/ppt/slides/slide8.xml" Id="R008af8abaf1f42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34d11c4c7f45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da46d7f6334354" /><Relationship Type="http://schemas.openxmlformats.org/officeDocument/2006/relationships/notesMaster" Target="/ppt/notesMasters/notesMaster1.xml" Id="R00f9445c7f2841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6a5dcee7ab4c2c" /><Relationship Type="http://schemas.openxmlformats.org/officeDocument/2006/relationships/notesMaster" Target="/ppt/notesMasters/notesMaster1.xml" Id="R1b2b11fde8d146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7fecfe0ad04af0" /><Relationship Type="http://schemas.openxmlformats.org/officeDocument/2006/relationships/notesMaster" Target="/ppt/notesMasters/notesMaster1.xml" Id="Rba96c494873e47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0301369e664363" /><Relationship Type="http://schemas.openxmlformats.org/officeDocument/2006/relationships/notesMaster" Target="/ppt/notesMasters/notesMaster1.xml" Id="R94f591bc146b42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78aa726c534dab" /><Relationship Type="http://schemas.openxmlformats.org/officeDocument/2006/relationships/notesMaster" Target="/ppt/notesMasters/notesMaster1.xml" Id="Rb15fc00e10e046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483af203594bf7" /><Relationship Type="http://schemas.openxmlformats.org/officeDocument/2006/relationships/notesMaster" Target="/ppt/notesMasters/notesMaster1.xml" Id="R5264508d214b45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81d2e0db6f443b" /><Relationship Type="http://schemas.openxmlformats.org/officeDocument/2006/relationships/notesMaster" Target="/ppt/notesMasters/notesMaster1.xml" Id="R897dca9418fc46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0123e1400f425e" /><Relationship Type="http://schemas.openxmlformats.org/officeDocument/2006/relationships/notesMaster" Target="/ppt/notesMasters/notesMaster1.xml" Id="Rd6a1c103532a4f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guide reflects Rag.py, ingest.py, docmanager.py, README.md, requirements.txt, and the Windows launch scripts as inspected on 15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run setup is done once. Subsequent sessions start with start_rag.bat. The app is loopback-only by default.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ingest.py and Rag.py. Upload validation checks file type, declared size, PDF structure, and Office archive limits. Page/slide markers support citations. Embeddings are sent to Ollama in batches.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Rag.py retrieval, prompt, and chat_stream functions. Arabic questions against English-only indexes are translated for retrieval only. The original question is sent to the answer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Rag.py, ingest.py, docmanager.py, start_rag.bat, and requirements.txt. Ollama is bound to the project's local service port; app data is local and not encrypted by the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docmanager.py, ingest.py, and Rag.py. documents.json holds document metadata. chat_history.json holds chat records with nested messages. Each document points to a Chroma collection; chunks carry source/page/slide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Rag.py language detection, retrieval, bilingual prompt, translation cache, and citation code; ingest.py language-aware chunking.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Rag.py, ingest.py, and start_rag.bat. OCR is opt-in and requires Tesseract. Keep local secrets out of source control and do not expose the service directly to a network.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648fcd5be4a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813a20e5d44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deb7aa05d4f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19da3c1314d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14d17523049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c4bbcb9c84d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44A6B1-57B7-42F9-B06F-646F947DEC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EAB0A2-F57E-4ECC-B842-4B52746B53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F4022B-E410-4BBB-85E4-ECC5713A8D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003D5E-9E1D-466F-941C-D312787260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ABC763-3125-431F-96BA-8700FB7C6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27AC5E-902F-4A16-A493-E9D81164DF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B6E2B9-7D7F-4DE0-9CE0-540AD03A88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2669BF-CA2F-4706-9819-418A9C39B7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54C8EE-37BE-4B5F-8CAE-920671E01B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C315CC-3F7C-42DB-85DB-D94A675E58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779beded8044cc" /><Relationship Type="http://schemas.openxmlformats.org/officeDocument/2006/relationships/slideLayout" Target="/ppt/slideLayouts/slideLayout1.xml" Id="R2721e4c0dce14b6f" /><Relationship Type="http://schemas.openxmlformats.org/officeDocument/2006/relationships/slideLayout" Target="/ppt/slideLayouts/slideLayout2.xml" Id="Rb6a9586557d04e9e" /><Relationship Type="http://schemas.openxmlformats.org/officeDocument/2006/relationships/slideLayout" Target="/ppt/slideLayouts/slideLayout3.xml" Id="Rf42ddcb47aa048b0" /><Relationship Type="http://schemas.openxmlformats.org/officeDocument/2006/relationships/slideLayout" Target="/ppt/slideLayouts/slideLayout4.xml" Id="R334473b8e9b8440a" /><Relationship Type="http://schemas.openxmlformats.org/officeDocument/2006/relationships/slideLayout" Target="/ppt/slideLayouts/slideLayout5.xml" Id="R5740ca0cca5e4383" /><Relationship Type="http://schemas.openxmlformats.org/officeDocument/2006/relationships/slideLayout" Target="/ppt/slideLayouts/slideLayout6.xml" Id="Rd6c29919de1b47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21e4c0dce14b6f"/>
    <p:sldLayoutId xmlns:r="http://schemas.openxmlformats.org/officeDocument/2006/relationships" id="2147483650" r:id="Rb6a9586557d04e9e"/>
    <p:sldLayoutId xmlns:r="http://schemas.openxmlformats.org/officeDocument/2006/relationships" id="2147483651" r:id="Rf42ddcb47aa048b0"/>
    <p:sldLayoutId xmlns:r="http://schemas.openxmlformats.org/officeDocument/2006/relationships" id="2147483652" r:id="R334473b8e9b8440a"/>
    <p:sldLayoutId xmlns:r="http://schemas.openxmlformats.org/officeDocument/2006/relationships" id="2147483653" r:id="R5740ca0cca5e4383"/>
    <p:sldLayoutId xmlns:r="http://schemas.openxmlformats.org/officeDocument/2006/relationships" id="2147483654" r:id="Rd6c29919de1b47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ccf05aa0845cb" /><Relationship Type="http://schemas.openxmlformats.org/officeDocument/2006/relationships/notesSlide" Target="/ppt/notesSlides/notesSlide1.xml" Id="R66f545ea69a540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974f3073b49a3" /><Relationship Type="http://schemas.openxmlformats.org/officeDocument/2006/relationships/notesSlide" Target="/ppt/notesSlides/notesSlide2.xml" Id="R5ee4724da7dc48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e278f1f654a04" /><Relationship Type="http://schemas.openxmlformats.org/officeDocument/2006/relationships/notesSlide" Target="/ppt/notesSlides/notesSlide3.xml" Id="Rb6f38ee0f1aa40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35a2e26804c52" /><Relationship Type="http://schemas.openxmlformats.org/officeDocument/2006/relationships/notesSlide" Target="/ppt/notesSlides/notesSlide4.xml" Id="R4feb69e7bb3543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6c3963f4a4e92" /><Relationship Type="http://schemas.openxmlformats.org/officeDocument/2006/relationships/notesSlide" Target="/ppt/notesSlides/notesSlide5.xml" Id="R2c7ee952047340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fbc1864e784c5b" /><Relationship Type="http://schemas.openxmlformats.org/officeDocument/2006/relationships/notesSlide" Target="/ppt/notesSlides/notesSlide6.xml" Id="R49120a7333e744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ae624147240ea" /><Relationship Type="http://schemas.openxmlformats.org/officeDocument/2006/relationships/notesSlide" Target="/ppt/notesSlides/notesSlide7.xml" Id="Rd7d6ca6d080e4f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113f84d6a4540" /><Relationship Type="http://schemas.openxmlformats.org/officeDocument/2006/relationships/notesSlide" Target="/ppt/notesSlides/notesSlide8.xml" Id="R7c54b8fb233f41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BAFBBD5-8B9C-4E6E-AAF3-1F46035E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B4597-35E4-492B-9271-EDDDC64C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_VOIS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8B108-2EF9-4BAC-A3F2-699D3E0F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CFD7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CFD7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FD7EB"/>
                </a:solidFill>
                <a:latin typeface="Arial"/>
                <a:ea typeface="Arial"/>
                <a:cs typeface="Arial"/>
              </a:rPr>
              <a:t>User guide and system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9FCF5-7C77-4D60-A1A5-0159D9DB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EBA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EBA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AD6"/>
                </a:solidFill>
                <a:latin typeface="Arial"/>
                <a:ea typeface="Arial"/>
                <a:cs typeface="Arial"/>
              </a:rPr>
              <a:t>How to start it, use it in English or Arabic, and understand the local retrieval pipeline.</a:t>
            </a:r>
          </a:p>
        </p:txBody>
      </p:sp>
      <p:sp>
        <p:nvSpPr>
          <p:cNvPr id="5" name="cover-step-0">
            <a:extLst xmlns:a="http://schemas.openxmlformats.org/drawingml/2006/main">
              <a:ext uri="{FF2B5EF4-FFF2-40B4-BE49-F238E27FC236}">
                <a16:creationId xmlns:a16="http://schemas.microsoft.com/office/drawing/2014/main" id="{7AE032CF-9F8C-481B-ACD3-767E12D5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B2947"/>
          </a:solidFill>
          <a:ln xmlns:a="http://schemas.openxmlformats.org/drawingml/2006/main" w="9525">
            <a:solidFill>
              <a:srgbClr val="3545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D662-FB32-4F73-900D-808A9416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8F8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C2999-A454-4BEF-A4FB-3CB28A48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AED56-4F43-4310-8C26-3D304C7A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B7C2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7C2D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C2DA"/>
                </a:solidFill>
                <a:latin typeface="Arial"/>
                <a:ea typeface="Arial"/>
                <a:cs typeface="Arial"/>
              </a:rPr>
              <a:t>Run the project launcher</a:t>
            </a:r>
          </a:p>
        </p:txBody>
      </p:sp>
      <p:sp>
        <p:nvSpPr>
          <p:cNvPr id="9" name="cover-step-1">
            <a:extLst xmlns:a="http://schemas.openxmlformats.org/drawingml/2006/main">
              <a:ext uri="{FF2B5EF4-FFF2-40B4-BE49-F238E27FC236}">
                <a16:creationId xmlns:a16="http://schemas.microsoft.com/office/drawing/2014/main" id="{065647A8-604A-4CB6-8DB8-91B8CEC0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1148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B2947"/>
          </a:solidFill>
          <a:ln xmlns:a="http://schemas.openxmlformats.org/drawingml/2006/main" w="9525">
            <a:solidFill>
              <a:srgbClr val="3545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24B72-FCDC-4AB2-8927-881D35D0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767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75F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75F3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5F3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74772-ACF0-43D6-ABDF-B85C24D8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10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22830-7995-4F16-BF9B-51CFE8D6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9530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B7C2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7C2D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C2DA"/>
                </a:solidFill>
                <a:latin typeface="Arial"/>
                <a:ea typeface="Arial"/>
                <a:cs typeface="Arial"/>
              </a:rPr>
              <a:t>Index a source document</a:t>
            </a:r>
          </a:p>
        </p:txBody>
      </p:sp>
      <p:sp>
        <p:nvSpPr>
          <p:cNvPr id="13" name="cover-step-2">
            <a:extLst xmlns:a="http://schemas.openxmlformats.org/drawingml/2006/main">
              <a:ext uri="{FF2B5EF4-FFF2-40B4-BE49-F238E27FC236}">
                <a16:creationId xmlns:a16="http://schemas.microsoft.com/office/drawing/2014/main" id="{FB3E739A-73E4-49BB-986A-968F7978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48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B2947"/>
          </a:solidFill>
          <a:ln xmlns:a="http://schemas.openxmlformats.org/drawingml/2006/main" w="9525">
            <a:solidFill>
              <a:srgbClr val="3545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B1649-585D-4870-8E90-9EE8B1D6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767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89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89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89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D4704-8639-4EEE-A8B6-E2D67888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910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377E3-E269-4506-B00E-0C616C25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530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B7C2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7C2D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C2DA"/>
                </a:solidFill>
                <a:latin typeface="Arial"/>
                <a:ea typeface="Arial"/>
                <a:cs typeface="Arial"/>
              </a:rPr>
              <a:t>Retrieve evidence and cite 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0874B-48ED-4C32-8234-E779445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15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8291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8291B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291B1"/>
                </a:solidFill>
                <a:latin typeface="Arial"/>
                <a:ea typeface="Arial"/>
                <a:cs typeface="Arial"/>
              </a:rPr>
              <a:t>Documented from the project source on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84169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ule">
            <a:extLst xmlns:a="http://schemas.openxmlformats.org/drawingml/2006/main">
              <a:ext uri="{FF2B5EF4-FFF2-40B4-BE49-F238E27FC236}">
                <a16:creationId xmlns:a16="http://schemas.microsoft.com/office/drawing/2014/main" id="{AE6CF81A-A5A3-4530-99A6-F5245BC6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2A762-1826-4199-9E99-92FC5FA8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8F8E"/>
                </a:solidFill>
                <a:latin typeface="Arial"/>
                <a:ea typeface="Arial"/>
                <a:cs typeface="Arial"/>
              </a:rPr>
              <a:t>_VOIS RAG  /  PROJECT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453A9-F7A1-4AA8-89DD-B2698AD6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A32"/>
                </a:solidFill>
                <a:latin typeface="Arial"/>
                <a:ea typeface="Arial"/>
                <a:cs typeface="Arial"/>
              </a:rPr>
              <a:t>Start and use the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D1C7D-0364-4E78-8B11-427E52E5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The Windows launchers keep the model service, packages, and project data with the E: drive project.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632D3E9-B9DC-4EE3-AF7F-9E597E3C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D28A0-2ECF-4A2D-8B5A-61458F36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Local document question answering | Windows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E4394-FA79-4053-B91B-DA3A7B06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62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art-card-0">
            <a:extLst xmlns:a="http://schemas.openxmlformats.org/drawingml/2006/main">
              <a:ext uri="{FF2B5EF4-FFF2-40B4-BE49-F238E27FC236}">
                <a16:creationId xmlns:a16="http://schemas.microsoft.com/office/drawing/2014/main" id="{A16C834F-C4EF-4A6E-A266-3B572EBC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5143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9" name="start-card-0-accent">
            <a:extLst xmlns:a="http://schemas.openxmlformats.org/drawingml/2006/main">
              <a:ext uri="{FF2B5EF4-FFF2-40B4-BE49-F238E27FC236}">
                <a16:creationId xmlns:a16="http://schemas.microsoft.com/office/drawing/2014/main" id="{EAA067E4-95DB-44C7-AE18-80D584DC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66675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10" name="start-card-0-title">
            <a:extLst xmlns:a="http://schemas.openxmlformats.org/drawingml/2006/main">
              <a:ext uri="{FF2B5EF4-FFF2-40B4-BE49-F238E27FC236}">
                <a16:creationId xmlns:a16="http://schemas.microsoft.com/office/drawing/2014/main" id="{3CCA8FAE-0A3C-4787-9B9B-AA883F87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480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1  First-time setup</a:t>
            </a:r>
          </a:p>
        </p:txBody>
      </p:sp>
      <p:sp>
        <p:nvSpPr>
          <p:cNvPr id="11" name="start-card-0-body">
            <a:extLst xmlns:a="http://schemas.openxmlformats.org/drawingml/2006/main">
              <a:ext uri="{FF2B5EF4-FFF2-40B4-BE49-F238E27FC236}">
                <a16:creationId xmlns:a16="http://schemas.microsoft.com/office/drawing/2014/main" id="{016A5E1E-F1DC-4947-893D-4111AAFB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47815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Run run_rag_one_click.bat once to prepare the project environment and pull required Ollama models.</a:t>
            </a:r>
          </a:p>
        </p:txBody>
      </p:sp>
      <p:sp>
        <p:nvSpPr>
          <p:cNvPr id="12" name="start-card-1">
            <a:extLst xmlns:a="http://schemas.openxmlformats.org/drawingml/2006/main">
              <a:ext uri="{FF2B5EF4-FFF2-40B4-BE49-F238E27FC236}">
                <a16:creationId xmlns:a16="http://schemas.microsoft.com/office/drawing/2014/main" id="{6B077DEC-315C-420A-8FAC-755E03DE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33550"/>
            <a:ext cx="5143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3" name="start-card-1-accent">
            <a:extLst xmlns:a="http://schemas.openxmlformats.org/drawingml/2006/main">
              <a:ext uri="{FF2B5EF4-FFF2-40B4-BE49-F238E27FC236}">
                <a16:creationId xmlns:a16="http://schemas.microsoft.com/office/drawing/2014/main" id="{BE56874C-94A0-4C61-877C-F76FA55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33550"/>
            <a:ext cx="66675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F8E"/>
          </a:solidFill>
          <a:ln xmlns:a="http://schemas.openxmlformats.org/drawingml/2006/main" w="0">
            <a:solidFill>
              <a:srgbClr val="0D8F8E"/>
            </a:solidFill>
            <a:prstDash val="solid"/>
          </a:ln>
        </p:spPr>
      </p:sp>
      <p:sp>
        <p:nvSpPr>
          <p:cNvPr id="14" name="start-card-1-title">
            <a:extLst xmlns:a="http://schemas.openxmlformats.org/drawingml/2006/main">
              <a:ext uri="{FF2B5EF4-FFF2-40B4-BE49-F238E27FC236}">
                <a16:creationId xmlns:a16="http://schemas.microsoft.com/office/drawing/2014/main" id="{8EDB4030-E08B-4065-88A2-ECBE350C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480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2  Start services</a:t>
            </a:r>
          </a:p>
        </p:txBody>
      </p:sp>
      <p:sp>
        <p:nvSpPr>
          <p:cNvPr id="15" name="start-card-1-body">
            <a:extLst xmlns:a="http://schemas.openxmlformats.org/drawingml/2006/main">
              <a:ext uri="{FF2B5EF4-FFF2-40B4-BE49-F238E27FC236}">
                <a16:creationId xmlns:a16="http://schemas.microsoft.com/office/drawing/2014/main" id="{5F46FADC-D7C6-4072-8E2C-002A087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0275"/>
            <a:ext cx="47815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Run start_rag.bat. It starts the project-managed Ollama service on port 11435, then launches Gradio.</a:t>
            </a:r>
          </a:p>
        </p:txBody>
      </p:sp>
      <p:sp>
        <p:nvSpPr>
          <p:cNvPr id="16" name="start-card-2">
            <a:extLst xmlns:a="http://schemas.openxmlformats.org/drawingml/2006/main">
              <a:ext uri="{FF2B5EF4-FFF2-40B4-BE49-F238E27FC236}">
                <a16:creationId xmlns:a16="http://schemas.microsoft.com/office/drawing/2014/main" id="{D17BDC06-84B4-497F-89C0-A791F9C0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5143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7" name="start-card-2-accent">
            <a:extLst xmlns:a="http://schemas.openxmlformats.org/drawingml/2006/main">
              <a:ext uri="{FF2B5EF4-FFF2-40B4-BE49-F238E27FC236}">
                <a16:creationId xmlns:a16="http://schemas.microsoft.com/office/drawing/2014/main" id="{E98D6AAD-D753-4250-AC31-6F33E4E3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66675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F3C"/>
          </a:solidFill>
          <a:ln xmlns:a="http://schemas.openxmlformats.org/drawingml/2006/main" w="0">
            <a:solidFill>
              <a:srgbClr val="D75F3C"/>
            </a:solidFill>
            <a:prstDash val="solid"/>
          </a:ln>
        </p:spPr>
      </p:sp>
      <p:sp>
        <p:nvSpPr>
          <p:cNvPr id="18" name="start-card-2-title">
            <a:extLst xmlns:a="http://schemas.openxmlformats.org/drawingml/2006/main">
              <a:ext uri="{FF2B5EF4-FFF2-40B4-BE49-F238E27FC236}">
                <a16:creationId xmlns:a16="http://schemas.microsoft.com/office/drawing/2014/main" id="{93C0BB36-E10C-4BB9-8133-779A665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480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3  Open the UI</a:t>
            </a:r>
          </a:p>
        </p:txBody>
      </p:sp>
      <p:sp>
        <p:nvSpPr>
          <p:cNvPr id="19" name="start-card-2-body">
            <a:extLst xmlns:a="http://schemas.openxmlformats.org/drawingml/2006/main">
              <a:ext uri="{FF2B5EF4-FFF2-40B4-BE49-F238E27FC236}">
                <a16:creationId xmlns:a16="http://schemas.microsoft.com/office/drawing/2014/main" id="{2B76D4D9-1714-4367-B29F-C1A1D3A8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1925"/>
            <a:ext cx="47815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Visit http://127.0.0.1:7860 after Gradio reports that it is running.</a:t>
            </a:r>
          </a:p>
        </p:txBody>
      </p:sp>
      <p:sp>
        <p:nvSpPr>
          <p:cNvPr id="20" name="start-card-3">
            <a:extLst xmlns:a="http://schemas.openxmlformats.org/drawingml/2006/main">
              <a:ext uri="{FF2B5EF4-FFF2-40B4-BE49-F238E27FC236}">
                <a16:creationId xmlns:a16="http://schemas.microsoft.com/office/drawing/2014/main" id="{BFC2D75E-FF3D-4550-B67F-0032144E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05200"/>
            <a:ext cx="5143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1" name="start-card-3-accent">
            <a:extLst xmlns:a="http://schemas.openxmlformats.org/drawingml/2006/main">
              <a:ext uri="{FF2B5EF4-FFF2-40B4-BE49-F238E27FC236}">
                <a16:creationId xmlns:a16="http://schemas.microsoft.com/office/drawing/2014/main" id="{1F894B38-C3DB-48B4-B453-B01241FC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05200"/>
            <a:ext cx="66675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781C"/>
          </a:solidFill>
          <a:ln xmlns:a="http://schemas.openxmlformats.org/drawingml/2006/main" w="0">
            <a:solidFill>
              <a:srgbClr val="B8781C"/>
            </a:solidFill>
            <a:prstDash val="solid"/>
          </a:ln>
        </p:spPr>
      </p:sp>
      <p:sp>
        <p:nvSpPr>
          <p:cNvPr id="22" name="start-card-3-title">
            <a:extLst xmlns:a="http://schemas.openxmlformats.org/drawingml/2006/main">
              <a:ext uri="{FF2B5EF4-FFF2-40B4-BE49-F238E27FC236}">
                <a16:creationId xmlns:a16="http://schemas.microsoft.com/office/drawing/2014/main" id="{A0C6326E-576F-4110-948C-BCE110A3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29025"/>
            <a:ext cx="480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4  Select and ask</a:t>
            </a:r>
          </a:p>
        </p:txBody>
      </p:sp>
      <p:sp>
        <p:nvSpPr>
          <p:cNvPr id="23" name="start-card-3-body">
            <a:extLst xmlns:a="http://schemas.openxmlformats.org/drawingml/2006/main">
              <a:ext uri="{FF2B5EF4-FFF2-40B4-BE49-F238E27FC236}">
                <a16:creationId xmlns:a16="http://schemas.microsoft.com/office/drawing/2014/main" id="{83137C26-4755-4219-9543-F136ED0C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71925"/>
            <a:ext cx="47815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Choose a ready document or upload one. Ask in the bottom composer and check the cited page or slide.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CA13C5-14AF-4AE8-9ED9-DAC5FD1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254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254D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54DE"/>
                </a:solidFill>
                <a:latin typeface="Arial"/>
                <a:ea typeface="Arial"/>
                <a:cs typeface="Arial"/>
              </a:rPr>
              <a:t>Daily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50CE8-C9DA-4C57-95C8-DC470A8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919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243A"/>
                </a:solidFill>
                <a:latin typeface="Arial"/>
                <a:ea typeface="Arial"/>
                <a:cs typeface="Arial"/>
              </a:rPr>
              <a:t>Document picker  |  New chat  |  Chat filter  |  Rename / reorder / delete chat  |  Translate visible answer</a:t>
            </a:r>
          </a:p>
        </p:txBody>
      </p:sp>
    </p:spTree>
    <p:extLst>
      <p:ext uri="{BB962C8B-B14F-4D97-AF65-F5344CB8AC3E}">
        <p14:creationId xmlns:p14="http://schemas.microsoft.com/office/powerpoint/2010/main" val="1598383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308951-80EB-4FAC-A69C-B2796528BF20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696450" y="39624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79A169-5B6D-42F6-99BE-4080C4A56BA9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839075" y="39624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2196F9-D70E-49D0-9418-D7F6ED24F036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981700" y="39624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9D1021-E974-46D8-A6C2-F6F971D569A1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124325" y="39624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CAE54-CDDF-47FE-AAEE-3D1FE4CD991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266950" y="39624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sp>
        <p:nvSpPr>
          <p:cNvPr id="46" name="top-rule">
            <a:extLst xmlns:a="http://schemas.openxmlformats.org/drawingml/2006/main">
              <a:ext uri="{FF2B5EF4-FFF2-40B4-BE49-F238E27FC236}">
                <a16:creationId xmlns:a16="http://schemas.microsoft.com/office/drawing/2014/main" id="{776E582C-54A0-4B2D-9DAF-562789C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23718-2FC3-46AD-AA56-D50477AC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8F8E"/>
                </a:solidFill>
                <a:latin typeface="Arial"/>
                <a:ea typeface="Arial"/>
                <a:cs typeface="Arial"/>
              </a:rPr>
              <a:t>_VOIS RAG  /  PROJECT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8DDF7-9568-4B09-B6A7-27E17C7B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A32"/>
                </a:solidFill>
                <a:latin typeface="Arial"/>
                <a:ea typeface="Arial"/>
                <a:cs typeface="Arial"/>
              </a:rPr>
              <a:t>Document ingestion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0B244-0267-4E42-9250-6B7F7853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Each accepted source receives its own embedding model choice and Chroma collection.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2C01732-3FC3-48DF-9B72-B78E9A66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72E8B-F108-4C04-B048-77DB170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Local document question answering | Windows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95807-2DE9-4F11-B1C5-75DD81FC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62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ingest-0">
            <a:extLst xmlns:a="http://schemas.openxmlformats.org/drawingml/2006/main">
              <a:ext uri="{FF2B5EF4-FFF2-40B4-BE49-F238E27FC236}">
                <a16:creationId xmlns:a16="http://schemas.microsoft.com/office/drawing/2014/main" id="{07FF029F-0DC1-427E-859A-80CD92DB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9" name="ingest-0-accent">
            <a:extLst xmlns:a="http://schemas.openxmlformats.org/drawingml/2006/main">
              <a:ext uri="{FF2B5EF4-FFF2-40B4-BE49-F238E27FC236}">
                <a16:creationId xmlns:a16="http://schemas.microsoft.com/office/drawing/2014/main" id="{C4F3854B-D52E-4D54-B535-7688DFE8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10" name="ingest-0-title">
            <a:extLst xmlns:a="http://schemas.openxmlformats.org/drawingml/2006/main">
              <a:ext uri="{FF2B5EF4-FFF2-40B4-BE49-F238E27FC236}">
                <a16:creationId xmlns:a16="http://schemas.microsoft.com/office/drawing/2014/main" id="{67DBF9DF-4E64-47BE-BD9A-C149015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ingest-0-body">
            <a:extLst xmlns:a="http://schemas.openxmlformats.org/drawingml/2006/main">
              <a:ext uri="{FF2B5EF4-FFF2-40B4-BE49-F238E27FC236}">
                <a16:creationId xmlns:a16="http://schemas.microsoft.com/office/drawing/2014/main" id="{C5A0588C-3AAC-4C39-BA02-D46374F7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1257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PDF, DOCX, PPTX</a:t>
            </a:r>
          </a:p>
        </p:txBody>
      </p:sp>
      <p:sp>
        <p:nvSpPr>
          <p:cNvPr id="12" name="ingest-1">
            <a:extLst xmlns:a="http://schemas.openxmlformats.org/drawingml/2006/main">
              <a:ext uri="{FF2B5EF4-FFF2-40B4-BE49-F238E27FC236}">
                <a16:creationId xmlns:a16="http://schemas.microsoft.com/office/drawing/2014/main" id="{D6968E1F-4E3A-4265-8BC3-BDB84C96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3375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3" name="ingest-1-accent">
            <a:extLst xmlns:a="http://schemas.openxmlformats.org/drawingml/2006/main">
              <a:ext uri="{FF2B5EF4-FFF2-40B4-BE49-F238E27FC236}">
                <a16:creationId xmlns:a16="http://schemas.microsoft.com/office/drawing/2014/main" id="{ADDE1D31-2ABD-43FF-940F-DBE82264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337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F8E"/>
          </a:solidFill>
          <a:ln xmlns:a="http://schemas.openxmlformats.org/drawingml/2006/main" w="0">
            <a:solidFill>
              <a:srgbClr val="0D8F8E"/>
            </a:solidFill>
            <a:prstDash val="solid"/>
          </a:ln>
        </p:spPr>
      </p:sp>
      <p:sp>
        <p:nvSpPr>
          <p:cNvPr id="14" name="ingest-1-title">
            <a:extLst xmlns:a="http://schemas.openxmlformats.org/drawingml/2006/main">
              <a:ext uri="{FF2B5EF4-FFF2-40B4-BE49-F238E27FC236}">
                <a16:creationId xmlns:a16="http://schemas.microsoft.com/office/drawing/2014/main" id="{CCF7DE9B-512B-4721-9C26-B36EDEFB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457575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ingest-1-body">
            <a:extLst xmlns:a="http://schemas.openxmlformats.org/drawingml/2006/main">
              <a:ext uri="{FF2B5EF4-FFF2-40B4-BE49-F238E27FC236}">
                <a16:creationId xmlns:a16="http://schemas.microsoft.com/office/drawing/2014/main" id="{7AEC1C2D-E89A-495A-ABA1-2A96AE8B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800475"/>
            <a:ext cx="1257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Type, size, structure</a:t>
            </a:r>
          </a:p>
        </p:txBody>
      </p:sp>
      <p:sp>
        <p:nvSpPr>
          <p:cNvPr id="17" name="ingest-2">
            <a:extLst xmlns:a="http://schemas.openxmlformats.org/drawingml/2006/main">
              <a:ext uri="{FF2B5EF4-FFF2-40B4-BE49-F238E27FC236}">
                <a16:creationId xmlns:a16="http://schemas.microsoft.com/office/drawing/2014/main" id="{DEF4070C-962A-4727-B8F3-30FDF929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8" name="ingest-2-accent">
            <a:extLst xmlns:a="http://schemas.openxmlformats.org/drawingml/2006/main">
              <a:ext uri="{FF2B5EF4-FFF2-40B4-BE49-F238E27FC236}">
                <a16:creationId xmlns:a16="http://schemas.microsoft.com/office/drawing/2014/main" id="{DFC63B1B-34EF-4905-9EBD-3B69D3A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F3C"/>
          </a:solidFill>
          <a:ln xmlns:a="http://schemas.openxmlformats.org/drawingml/2006/main" w="0">
            <a:solidFill>
              <a:srgbClr val="D75F3C"/>
            </a:solidFill>
            <a:prstDash val="solid"/>
          </a:ln>
        </p:spPr>
      </p:sp>
      <p:sp>
        <p:nvSpPr>
          <p:cNvPr id="19" name="ingest-2-title">
            <a:extLst xmlns:a="http://schemas.openxmlformats.org/drawingml/2006/main">
              <a:ext uri="{FF2B5EF4-FFF2-40B4-BE49-F238E27FC236}">
                <a16:creationId xmlns:a16="http://schemas.microsoft.com/office/drawing/2014/main" id="{1A133119-B217-4008-BA82-BE799FA5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57575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20" name="ingest-2-body">
            <a:extLst xmlns:a="http://schemas.openxmlformats.org/drawingml/2006/main">
              <a:ext uri="{FF2B5EF4-FFF2-40B4-BE49-F238E27FC236}">
                <a16:creationId xmlns:a16="http://schemas.microsoft.com/office/drawing/2014/main" id="{6E8F7C5F-AAF0-4E00-9AD0-7B155169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00475"/>
            <a:ext cx="1257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Text + page / slide tags</a:t>
            </a:r>
          </a:p>
        </p:txBody>
      </p:sp>
      <p:sp>
        <p:nvSpPr>
          <p:cNvPr id="22" name="ingest-3">
            <a:extLst xmlns:a="http://schemas.openxmlformats.org/drawingml/2006/main">
              <a:ext uri="{FF2B5EF4-FFF2-40B4-BE49-F238E27FC236}">
                <a16:creationId xmlns:a16="http://schemas.microsoft.com/office/drawing/2014/main" id="{6535FB2E-4839-4EF1-ACA5-C4456EED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3375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3" name="ingest-3-accent">
            <a:extLst xmlns:a="http://schemas.openxmlformats.org/drawingml/2006/main">
              <a:ext uri="{FF2B5EF4-FFF2-40B4-BE49-F238E27FC236}">
                <a16:creationId xmlns:a16="http://schemas.microsoft.com/office/drawing/2014/main" id="{66D390E6-D390-41A4-88C9-E51C627A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337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781C"/>
          </a:solidFill>
          <a:ln xmlns:a="http://schemas.openxmlformats.org/drawingml/2006/main" w="0">
            <a:solidFill>
              <a:srgbClr val="B8781C"/>
            </a:solidFill>
            <a:prstDash val="solid"/>
          </a:ln>
        </p:spPr>
      </p:sp>
      <p:sp>
        <p:nvSpPr>
          <p:cNvPr id="24" name="ingest-3-title">
            <a:extLst xmlns:a="http://schemas.openxmlformats.org/drawingml/2006/main">
              <a:ext uri="{FF2B5EF4-FFF2-40B4-BE49-F238E27FC236}">
                <a16:creationId xmlns:a16="http://schemas.microsoft.com/office/drawing/2014/main" id="{CAFE7688-8F6B-4A20-B5D3-1FE9219F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57575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25" name="ingest-3-body">
            <a:extLst xmlns:a="http://schemas.openxmlformats.org/drawingml/2006/main">
              <a:ext uri="{FF2B5EF4-FFF2-40B4-BE49-F238E27FC236}">
                <a16:creationId xmlns:a16="http://schemas.microsoft.com/office/drawing/2014/main" id="{1273B15F-D538-4C1A-BFEE-98210CEA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00475"/>
            <a:ext cx="1257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Language-aware splits</a:t>
            </a:r>
          </a:p>
        </p:txBody>
      </p:sp>
      <p:sp>
        <p:nvSpPr>
          <p:cNvPr id="27" name="ingest-4">
            <a:extLst xmlns:a="http://schemas.openxmlformats.org/drawingml/2006/main">
              <a:ext uri="{FF2B5EF4-FFF2-40B4-BE49-F238E27FC236}">
                <a16:creationId xmlns:a16="http://schemas.microsoft.com/office/drawing/2014/main" id="{321AF747-BF69-4C79-AD59-220095CA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8" name="ingest-4-accent">
            <a:extLst xmlns:a="http://schemas.openxmlformats.org/drawingml/2006/main">
              <a:ext uri="{FF2B5EF4-FFF2-40B4-BE49-F238E27FC236}">
                <a16:creationId xmlns:a16="http://schemas.microsoft.com/office/drawing/2014/main" id="{EAFEA580-23B3-4113-AED5-E01C68CA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9" name="ingest-4-title">
            <a:extLst xmlns:a="http://schemas.openxmlformats.org/drawingml/2006/main">
              <a:ext uri="{FF2B5EF4-FFF2-40B4-BE49-F238E27FC236}">
                <a16:creationId xmlns:a16="http://schemas.microsoft.com/office/drawing/2014/main" id="{5F857B6B-1F2D-43BF-8F64-237B822C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57575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30" name="ingest-4-body">
            <a:extLst xmlns:a="http://schemas.openxmlformats.org/drawingml/2006/main">
              <a:ext uri="{FF2B5EF4-FFF2-40B4-BE49-F238E27FC236}">
                <a16:creationId xmlns:a16="http://schemas.microsoft.com/office/drawing/2014/main" id="{A1B3757C-E734-4F9A-A8AB-7FD012F7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00475"/>
            <a:ext cx="1257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Nomic or BGE-M3</a:t>
            </a:r>
          </a:p>
        </p:txBody>
      </p:sp>
      <p:sp>
        <p:nvSpPr>
          <p:cNvPr id="32" name="ingest-5">
            <a:extLst xmlns:a="http://schemas.openxmlformats.org/drawingml/2006/main">
              <a:ext uri="{FF2B5EF4-FFF2-40B4-BE49-F238E27FC236}">
                <a16:creationId xmlns:a16="http://schemas.microsoft.com/office/drawing/2014/main" id="{41B52DC4-61EF-4892-9842-E5AB0607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3375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33" name="ingest-5-accent">
            <a:extLst xmlns:a="http://schemas.openxmlformats.org/drawingml/2006/main">
              <a:ext uri="{FF2B5EF4-FFF2-40B4-BE49-F238E27FC236}">
                <a16:creationId xmlns:a16="http://schemas.microsoft.com/office/drawing/2014/main" id="{F44E3F73-2C4C-456E-83E2-48687522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337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F8E"/>
          </a:solidFill>
          <a:ln xmlns:a="http://schemas.openxmlformats.org/drawingml/2006/main" w="0">
            <a:solidFill>
              <a:srgbClr val="0D8F8E"/>
            </a:solidFill>
            <a:prstDash val="solid"/>
          </a:ln>
        </p:spPr>
      </p:sp>
      <p:sp>
        <p:nvSpPr>
          <p:cNvPr id="34" name="ingest-5-title">
            <a:extLst xmlns:a="http://schemas.openxmlformats.org/drawingml/2006/main">
              <a:ext uri="{FF2B5EF4-FFF2-40B4-BE49-F238E27FC236}">
                <a16:creationId xmlns:a16="http://schemas.microsoft.com/office/drawing/2014/main" id="{B5EFB8E3-6A3A-4799-87B6-B9F27285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457575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35" name="ingest-5-body">
            <a:extLst xmlns:a="http://schemas.openxmlformats.org/drawingml/2006/main">
              <a:ext uri="{FF2B5EF4-FFF2-40B4-BE49-F238E27FC236}">
                <a16:creationId xmlns:a16="http://schemas.microsoft.com/office/drawing/2014/main" id="{007DC072-CBC2-4D81-99AD-383017D5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800475"/>
            <a:ext cx="1257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Chroma collection</a:t>
            </a:r>
          </a:p>
        </p:txBody>
      </p:sp>
      <p:sp>
        <p:nvSpPr>
          <p:cNvPr id="37" name="english-index">
            <a:extLst xmlns:a="http://schemas.openxmlformats.org/drawingml/2006/main">
              <a:ext uri="{FF2B5EF4-FFF2-40B4-BE49-F238E27FC236}">
                <a16:creationId xmlns:a16="http://schemas.microsoft.com/office/drawing/2014/main" id="{635074B3-D539-404D-9731-BB5D151E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38" name="english-index-accent">
            <a:extLst xmlns:a="http://schemas.openxmlformats.org/drawingml/2006/main">
              <a:ext uri="{FF2B5EF4-FFF2-40B4-BE49-F238E27FC236}">
                <a16:creationId xmlns:a16="http://schemas.microsoft.com/office/drawing/2014/main" id="{B02D3C13-D554-4960-928B-D605FF3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39" name="english-index-title">
            <a:extLst xmlns:a="http://schemas.openxmlformats.org/drawingml/2006/main">
              <a:ext uri="{FF2B5EF4-FFF2-40B4-BE49-F238E27FC236}">
                <a16:creationId xmlns:a16="http://schemas.microsoft.com/office/drawing/2014/main" id="{42CFD4F7-E5DA-45C6-A901-AAAB1A48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480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English documents</a:t>
            </a:r>
          </a:p>
        </p:txBody>
      </p:sp>
      <p:sp>
        <p:nvSpPr>
          <p:cNvPr id="40" name="english-index-body">
            <a:extLst xmlns:a="http://schemas.openxmlformats.org/drawingml/2006/main">
              <a:ext uri="{FF2B5EF4-FFF2-40B4-BE49-F238E27FC236}">
                <a16:creationId xmlns:a16="http://schemas.microsoft.com/office/drawing/2014/main" id="{25FC9958-2CE5-4404-81D7-91F94A98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4781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nomic-embed-text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1,500-character target chunks with 100 overlap</a:t>
            </a:r>
          </a:p>
        </p:txBody>
      </p:sp>
      <p:sp>
        <p:nvSpPr>
          <p:cNvPr id="41" name="arabic-index">
            <a:extLst xmlns:a="http://schemas.openxmlformats.org/drawingml/2006/main">
              <a:ext uri="{FF2B5EF4-FFF2-40B4-BE49-F238E27FC236}">
                <a16:creationId xmlns:a16="http://schemas.microsoft.com/office/drawing/2014/main" id="{F1204707-DA17-4EF1-826B-67085BC3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7640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42" name="arabic-index-accent">
            <a:extLst xmlns:a="http://schemas.openxmlformats.org/drawingml/2006/main">
              <a:ext uri="{FF2B5EF4-FFF2-40B4-BE49-F238E27FC236}">
                <a16:creationId xmlns:a16="http://schemas.microsoft.com/office/drawing/2014/main" id="{542346C7-8756-420A-9118-399AA143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764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F8E"/>
          </a:solidFill>
          <a:ln xmlns:a="http://schemas.openxmlformats.org/drawingml/2006/main" w="0">
            <a:solidFill>
              <a:srgbClr val="0D8F8E"/>
            </a:solidFill>
            <a:prstDash val="solid"/>
          </a:ln>
        </p:spPr>
      </p:sp>
      <p:sp>
        <p:nvSpPr>
          <p:cNvPr id="43" name="arabic-index-title">
            <a:extLst xmlns:a="http://schemas.openxmlformats.org/drawingml/2006/main">
              <a:ext uri="{FF2B5EF4-FFF2-40B4-BE49-F238E27FC236}">
                <a16:creationId xmlns:a16="http://schemas.microsoft.com/office/drawing/2014/main" id="{472392CE-6102-4BE7-BE4B-AACF4BCA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0225"/>
            <a:ext cx="480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Arabic documents</a:t>
            </a:r>
          </a:p>
        </p:txBody>
      </p:sp>
      <p:sp>
        <p:nvSpPr>
          <p:cNvPr id="44" name="arabic-index-body">
            <a:extLst xmlns:a="http://schemas.openxmlformats.org/drawingml/2006/main">
              <a:ext uri="{FF2B5EF4-FFF2-40B4-BE49-F238E27FC236}">
                <a16:creationId xmlns:a16="http://schemas.microsoft.com/office/drawing/2014/main" id="{2174A910-92AC-4525-AE4C-52637B6D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4781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BGE-M3 multilingual embeddings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1,000-character target chunks with 50 overlap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9354E2-6ECC-4DA5-824B-B59565CC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Default limits: 5 ready documents | 40 MB per file | 8 million extracted characters | scanned-PDF OCR is optional</a:t>
            </a:r>
          </a:p>
        </p:txBody>
      </p:sp>
    </p:spTree>
    <p:extLst>
      <p:ext uri="{BB962C8B-B14F-4D97-AF65-F5344CB8AC3E}">
        <p14:creationId xmlns:p14="http://schemas.microsoft.com/office/powerpoint/2010/main" val="1964510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33CFFB-37AC-42BF-B5BC-C402E404D7E0}"/>
              </a:ext>
            </a:extLst>
          </p:cNvPr>
          <p:cNvCxnSpPr>
            <a:stCxn xmlns:a="http://schemas.openxmlformats.org/drawingml/2006/main" id="31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4191000" y="240030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70DDA6-F51E-4F84-B2CB-EF45BF6A97B2}"/>
              </a:ext>
            </a:extLst>
          </p:cNvPr>
          <p:cNvCxnSpPr>
            <a:stCxn xmlns:a="http://schemas.openxmlformats.org/drawingml/2006/main" id="35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7267575" y="240030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41925B-3BFB-4177-8C45-803576B8DF91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 flipV="1">
            <a:off x="9172575" y="1809750"/>
            <a:ext cx="1028700" cy="3295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0C842A-B44B-4972-81E7-D5C8F7FFCD9B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591550" y="4514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A615A-80E9-418D-ACE7-B24A81E4702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10250" y="4514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B602B-3DBC-47E9-B5B8-DE95C996F33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28950" y="4514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sp>
        <p:nvSpPr>
          <p:cNvPr id="43" name="top-rule">
            <a:extLst xmlns:a="http://schemas.openxmlformats.org/drawingml/2006/main">
              <a:ext uri="{FF2B5EF4-FFF2-40B4-BE49-F238E27FC236}">
                <a16:creationId xmlns:a16="http://schemas.microsoft.com/office/drawing/2014/main" id="{9A2EDD40-3B15-4028-BD10-21BCDD11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20E39-5D21-4131-842B-37647D79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8F8E"/>
                </a:solidFill>
                <a:latin typeface="Arial"/>
                <a:ea typeface="Arial"/>
                <a:cs typeface="Arial"/>
              </a:rPr>
              <a:t>_VOIS RAG  /  PROJECT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DAFB1-A97B-48EE-B7E7-0E35E67F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A32"/>
                </a:solidFill>
                <a:latin typeface="Arial"/>
                <a:ea typeface="Arial"/>
                <a:cs typeface="Arial"/>
              </a:rPr>
              <a:t>Question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04EE5-399B-4B92-BECA-21E8257A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Retrieval finds document evidence first; the answer model receives that evidence and the original question.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EFBA51E-9D38-4FC9-941C-621A0728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66893-DACC-4CF7-9C3D-747FEFF5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Local document question answering | Windows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393DA-C19B-442A-9033-0A9A2E72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62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query-top-0">
            <a:extLst xmlns:a="http://schemas.openxmlformats.org/drawingml/2006/main">
              <a:ext uri="{FF2B5EF4-FFF2-40B4-BE49-F238E27FC236}">
                <a16:creationId xmlns:a16="http://schemas.microsoft.com/office/drawing/2014/main" id="{141E1308-0C12-423D-A935-4ADBC4FC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9" name="query-top-0-accent">
            <a:extLst xmlns:a="http://schemas.openxmlformats.org/drawingml/2006/main">
              <a:ext uri="{FF2B5EF4-FFF2-40B4-BE49-F238E27FC236}">
                <a16:creationId xmlns:a16="http://schemas.microsoft.com/office/drawing/2014/main" id="{B7DF1D14-386B-4FAC-9E6F-4A0C678E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10" name="query-top-0-title">
            <a:extLst xmlns:a="http://schemas.openxmlformats.org/drawingml/2006/main">
              <a:ext uri="{FF2B5EF4-FFF2-40B4-BE49-F238E27FC236}">
                <a16:creationId xmlns:a16="http://schemas.microsoft.com/office/drawing/2014/main" id="{5598C580-8635-4527-84CD-E2699BA5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1" name="query-top-0-body">
            <a:extLst xmlns:a="http://schemas.openxmlformats.org/drawingml/2006/main">
              <a:ext uri="{FF2B5EF4-FFF2-40B4-BE49-F238E27FC236}">
                <a16:creationId xmlns:a16="http://schemas.microsoft.com/office/drawing/2014/main" id="{07BEFE34-C34A-4368-976C-E04D2236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1981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Normalize text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Enforce length limit</a:t>
            </a:r>
          </a:p>
        </p:txBody>
      </p:sp>
      <p:sp>
        <p:nvSpPr>
          <p:cNvPr id="12" name="query-top-1">
            <a:extLst xmlns:a="http://schemas.openxmlformats.org/drawingml/2006/main">
              <a:ext uri="{FF2B5EF4-FFF2-40B4-BE49-F238E27FC236}">
                <a16:creationId xmlns:a16="http://schemas.microsoft.com/office/drawing/2014/main" id="{0D8E4022-2997-4823-8050-FD25C19C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243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3" name="query-top-1-accent">
            <a:extLst xmlns:a="http://schemas.openxmlformats.org/drawingml/2006/main">
              <a:ext uri="{FF2B5EF4-FFF2-40B4-BE49-F238E27FC236}">
                <a16:creationId xmlns:a16="http://schemas.microsoft.com/office/drawing/2014/main" id="{6612DE39-14B6-4390-A1C8-93F5803D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2430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F8E"/>
          </a:solidFill>
          <a:ln xmlns:a="http://schemas.openxmlformats.org/drawingml/2006/main" w="0">
            <a:solidFill>
              <a:srgbClr val="0D8F8E"/>
            </a:solidFill>
            <a:prstDash val="solid"/>
          </a:ln>
        </p:spPr>
      </p:sp>
      <p:sp>
        <p:nvSpPr>
          <p:cNvPr id="14" name="query-top-1-title">
            <a:extLst xmlns:a="http://schemas.openxmlformats.org/drawingml/2006/main">
              <a:ext uri="{FF2B5EF4-FFF2-40B4-BE49-F238E27FC236}">
                <a16:creationId xmlns:a16="http://schemas.microsoft.com/office/drawing/2014/main" id="{B5644427-FEB6-4738-AE91-94EDF711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481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Resolve source</a:t>
            </a:r>
          </a:p>
        </p:txBody>
      </p:sp>
      <p:sp>
        <p:nvSpPr>
          <p:cNvPr id="15" name="query-top-1-body">
            <a:extLst xmlns:a="http://schemas.openxmlformats.org/drawingml/2006/main">
              <a:ext uri="{FF2B5EF4-FFF2-40B4-BE49-F238E27FC236}">
                <a16:creationId xmlns:a16="http://schemas.microsoft.com/office/drawing/2014/main" id="{0C61466E-B202-44D1-B127-3565F92C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91025"/>
            <a:ext cx="1981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Use selected ready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17" name="query-top-2">
            <a:extLst xmlns:a="http://schemas.openxmlformats.org/drawingml/2006/main">
              <a:ext uri="{FF2B5EF4-FFF2-40B4-BE49-F238E27FC236}">
                <a16:creationId xmlns:a16="http://schemas.microsoft.com/office/drawing/2014/main" id="{839B544A-B65F-44F9-ADC4-2A9E311D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8" name="query-top-2-accent">
            <a:extLst xmlns:a="http://schemas.openxmlformats.org/drawingml/2006/main">
              <a:ext uri="{FF2B5EF4-FFF2-40B4-BE49-F238E27FC236}">
                <a16:creationId xmlns:a16="http://schemas.microsoft.com/office/drawing/2014/main" id="{75316F54-4369-44B0-B647-331F1F66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F3C"/>
          </a:solidFill>
          <a:ln xmlns:a="http://schemas.openxmlformats.org/drawingml/2006/main" w="0">
            <a:solidFill>
              <a:srgbClr val="D75F3C"/>
            </a:solidFill>
            <a:prstDash val="solid"/>
          </a:ln>
        </p:spPr>
      </p:sp>
      <p:sp>
        <p:nvSpPr>
          <p:cNvPr id="19" name="query-top-2-title">
            <a:extLst xmlns:a="http://schemas.openxmlformats.org/drawingml/2006/main">
              <a:ext uri="{FF2B5EF4-FFF2-40B4-BE49-F238E27FC236}">
                <a16:creationId xmlns:a16="http://schemas.microsoft.com/office/drawing/2014/main" id="{F82F5AB5-3179-48B7-AE6D-B21AD822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481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Match language</a:t>
            </a:r>
          </a:p>
        </p:txBody>
      </p:sp>
      <p:sp>
        <p:nvSpPr>
          <p:cNvPr id="20" name="query-top-2-body">
            <a:extLst xmlns:a="http://schemas.openxmlformats.org/drawingml/2006/main">
              <a:ext uri="{FF2B5EF4-FFF2-40B4-BE49-F238E27FC236}">
                <a16:creationId xmlns:a16="http://schemas.microsoft.com/office/drawing/2014/main" id="{243ABE1E-7B2A-418B-8285-051AB997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91025"/>
            <a:ext cx="1981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Direct multilingual search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or translate for search</a:t>
            </a:r>
          </a:p>
        </p:txBody>
      </p:sp>
      <p:sp>
        <p:nvSpPr>
          <p:cNvPr id="22" name="query-top-3">
            <a:extLst xmlns:a="http://schemas.openxmlformats.org/drawingml/2006/main">
              <a:ext uri="{FF2B5EF4-FFF2-40B4-BE49-F238E27FC236}">
                <a16:creationId xmlns:a16="http://schemas.microsoft.com/office/drawing/2014/main" id="{64BAB264-5E81-486D-9EA9-2B19F40F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243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3" name="query-top-3-accent">
            <a:extLst xmlns:a="http://schemas.openxmlformats.org/drawingml/2006/main">
              <a:ext uri="{FF2B5EF4-FFF2-40B4-BE49-F238E27FC236}">
                <a16:creationId xmlns:a16="http://schemas.microsoft.com/office/drawing/2014/main" id="{D5EF1A05-C8C6-4DEA-BDD3-77A10E81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2430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781C"/>
          </a:solidFill>
          <a:ln xmlns:a="http://schemas.openxmlformats.org/drawingml/2006/main" w="0">
            <a:solidFill>
              <a:srgbClr val="B8781C"/>
            </a:solidFill>
            <a:prstDash val="solid"/>
          </a:ln>
        </p:spPr>
      </p:sp>
      <p:sp>
        <p:nvSpPr>
          <p:cNvPr id="24" name="query-top-3-title">
            <a:extLst xmlns:a="http://schemas.openxmlformats.org/drawingml/2006/main">
              <a:ext uri="{FF2B5EF4-FFF2-40B4-BE49-F238E27FC236}">
                <a16:creationId xmlns:a16="http://schemas.microsoft.com/office/drawing/2014/main" id="{7588851A-9364-49C2-BC64-31AD9E47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481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25" name="query-top-3-body">
            <a:extLst xmlns:a="http://schemas.openxmlformats.org/drawingml/2006/main">
              <a:ext uri="{FF2B5EF4-FFF2-40B4-BE49-F238E27FC236}">
                <a16:creationId xmlns:a16="http://schemas.microsoft.com/office/drawing/2014/main" id="{A074B17A-1DE3-41FF-92C2-F5C2DF4A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91025"/>
            <a:ext cx="1981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Embed query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MMR top 5 chunks</a:t>
            </a:r>
          </a:p>
        </p:txBody>
      </p:sp>
      <p:sp>
        <p:nvSpPr>
          <p:cNvPr id="27" name="query-bottom-2">
            <a:extLst xmlns:a="http://schemas.openxmlformats.org/drawingml/2006/main">
              <a:ext uri="{FF2B5EF4-FFF2-40B4-BE49-F238E27FC236}">
                <a16:creationId xmlns:a16="http://schemas.microsoft.com/office/drawing/2014/main" id="{96D78BE6-B4EB-4479-82DB-EE9302C7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097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8" name="query-bottom-2-accent">
            <a:extLst xmlns:a="http://schemas.openxmlformats.org/drawingml/2006/main">
              <a:ext uri="{FF2B5EF4-FFF2-40B4-BE49-F238E27FC236}">
                <a16:creationId xmlns:a16="http://schemas.microsoft.com/office/drawing/2014/main" id="{06AF4AB6-2D56-4D14-B8C5-EF9F8991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0975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9" name="query-bottom-2-title">
            <a:extLst xmlns:a="http://schemas.openxmlformats.org/drawingml/2006/main">
              <a:ext uri="{FF2B5EF4-FFF2-40B4-BE49-F238E27FC236}">
                <a16:creationId xmlns:a16="http://schemas.microsoft.com/office/drawing/2014/main" id="{7B335FC6-71C7-4F2A-9C12-14757B0A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335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Cite and persist</a:t>
            </a:r>
          </a:p>
        </p:txBody>
      </p:sp>
      <p:sp>
        <p:nvSpPr>
          <p:cNvPr id="30" name="query-bottom-2-body">
            <a:extLst xmlns:a="http://schemas.openxmlformats.org/drawingml/2006/main">
              <a:ext uri="{FF2B5EF4-FFF2-40B4-BE49-F238E27FC236}">
                <a16:creationId xmlns:a16="http://schemas.microsoft.com/office/drawing/2014/main" id="{19817F06-951B-4629-8B7D-4B0CB291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76475"/>
            <a:ext cx="1981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Show source page / slide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Save conversation</a:t>
            </a:r>
          </a:p>
        </p:txBody>
      </p:sp>
      <p:sp>
        <p:nvSpPr>
          <p:cNvPr id="31" name="query-bottom-1">
            <a:extLst xmlns:a="http://schemas.openxmlformats.org/drawingml/2006/main">
              <a:ext uri="{FF2B5EF4-FFF2-40B4-BE49-F238E27FC236}">
                <a16:creationId xmlns:a16="http://schemas.microsoft.com/office/drawing/2014/main" id="{4F5EB2EE-5D34-483E-BBEC-65F707E2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8097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32" name="query-bottom-1-accent">
            <a:extLst xmlns:a="http://schemas.openxmlformats.org/drawingml/2006/main">
              <a:ext uri="{FF2B5EF4-FFF2-40B4-BE49-F238E27FC236}">
                <a16:creationId xmlns:a16="http://schemas.microsoft.com/office/drawing/2014/main" id="{C198DCAB-01A8-4B32-82D6-E0A832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80975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F3C"/>
          </a:solidFill>
          <a:ln xmlns:a="http://schemas.openxmlformats.org/drawingml/2006/main" w="0">
            <a:solidFill>
              <a:srgbClr val="D75F3C"/>
            </a:solidFill>
            <a:prstDash val="solid"/>
          </a:ln>
        </p:spPr>
      </p:sp>
      <p:sp>
        <p:nvSpPr>
          <p:cNvPr id="33" name="query-bottom-1-title">
            <a:extLst xmlns:a="http://schemas.openxmlformats.org/drawingml/2006/main">
              <a:ext uri="{FF2B5EF4-FFF2-40B4-BE49-F238E27FC236}">
                <a16:creationId xmlns:a16="http://schemas.microsoft.com/office/drawing/2014/main" id="{CB8D4DC8-4076-4AE0-8232-19C6DF99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335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34" name="query-bottom-1-body">
            <a:extLst xmlns:a="http://schemas.openxmlformats.org/drawingml/2006/main">
              <a:ext uri="{FF2B5EF4-FFF2-40B4-BE49-F238E27FC236}">
                <a16:creationId xmlns:a16="http://schemas.microsoft.com/office/drawing/2014/main" id="{8DD62F77-CBAF-4AA7-9183-CC48D060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76475"/>
            <a:ext cx="1981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Qwen2.5:3b via Ollama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Stream answer</a:t>
            </a:r>
          </a:p>
        </p:txBody>
      </p:sp>
      <p:sp>
        <p:nvSpPr>
          <p:cNvPr id="35" name="query-bottom-0">
            <a:extLst xmlns:a="http://schemas.openxmlformats.org/drawingml/2006/main">
              <a:ext uri="{FF2B5EF4-FFF2-40B4-BE49-F238E27FC236}">
                <a16:creationId xmlns:a16="http://schemas.microsoft.com/office/drawing/2014/main" id="{87EFE764-4D9F-4187-8E7F-54B8504A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36" name="query-bottom-0-accent">
            <a:extLst xmlns:a="http://schemas.openxmlformats.org/drawingml/2006/main">
              <a:ext uri="{FF2B5EF4-FFF2-40B4-BE49-F238E27FC236}">
                <a16:creationId xmlns:a16="http://schemas.microsoft.com/office/drawing/2014/main" id="{6AB0543E-7E09-43AB-95D0-184F889E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F8E"/>
          </a:solidFill>
          <a:ln xmlns:a="http://schemas.openxmlformats.org/drawingml/2006/main" w="0">
            <a:solidFill>
              <a:srgbClr val="0D8F8E"/>
            </a:solidFill>
            <a:prstDash val="solid"/>
          </a:ln>
        </p:spPr>
      </p:sp>
      <p:sp>
        <p:nvSpPr>
          <p:cNvPr id="37" name="query-bottom-0-title">
            <a:extLst xmlns:a="http://schemas.openxmlformats.org/drawingml/2006/main">
              <a:ext uri="{FF2B5EF4-FFF2-40B4-BE49-F238E27FC236}">
                <a16:creationId xmlns:a16="http://schemas.microsoft.com/office/drawing/2014/main" id="{65B45F78-A8A3-4058-909D-2E400E4B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335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Build prompt</a:t>
            </a:r>
          </a:p>
        </p:txBody>
      </p:sp>
      <p:sp>
        <p:nvSpPr>
          <p:cNvPr id="38" name="query-bottom-0-body">
            <a:extLst xmlns:a="http://schemas.openxmlformats.org/drawingml/2006/main">
              <a:ext uri="{FF2B5EF4-FFF2-40B4-BE49-F238E27FC236}">
                <a16:creationId xmlns:a16="http://schemas.microsoft.com/office/drawing/2014/main" id="{DFC98B16-E389-4F4F-8851-99AE90EE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76475"/>
            <a:ext cx="1981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Evidence + recent turns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Original question retained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3B0F5B-C5BC-4697-B410-5DF103EB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If MMR fails, similarity search is attempted. Without evidence, the assistant should say it could not find the answer in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20607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89573A-9EDF-48C9-8C7D-9456FE04DA5D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024563" y="49053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0DEE51-664F-423A-A207-D3DF554CD265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24563" y="40100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186CA-BFBB-4669-80B5-17B06981E448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024563" y="31146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7301F-F6A1-431B-B07A-C094D2F8798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24563" y="22193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8F8E"/>
            </a:solidFill>
            <a:prstDash val="solid"/>
            <a:headEnd type="arrow" w="sm" len="sm"/>
          </a:ln>
        </p:spPr>
      </p:cxnSp>
      <p:sp>
        <p:nvSpPr>
          <p:cNvPr id="32" name="top-rule">
            <a:extLst xmlns:a="http://schemas.openxmlformats.org/drawingml/2006/main">
              <a:ext uri="{FF2B5EF4-FFF2-40B4-BE49-F238E27FC236}">
                <a16:creationId xmlns:a16="http://schemas.microsoft.com/office/drawing/2014/main" id="{7F2E1015-6337-4ABF-9912-3F8E64DE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45E48-28C9-4643-B43E-B1353B9E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8F8E"/>
                </a:solidFill>
                <a:latin typeface="Arial"/>
                <a:ea typeface="Arial"/>
                <a:cs typeface="Arial"/>
              </a:rPr>
              <a:t>_VOIS RAG  /  PROJECT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E1F34-13F8-4AF6-B119-59FF0719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A32"/>
                </a:solidFill>
                <a:latin typeface="Arial"/>
                <a:ea typeface="Arial"/>
                <a:cs typeface="Arial"/>
              </a:rPr>
              <a:t>How the system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BCBAA-AC6B-48C6-B5D8-C5F7BB9D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Gradio at 127.0.0.1:7860 | Ollama at 127.0.0.1:11435 | Loopback only by default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2CFF73-009F-42EA-BB53-0E75F8D9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2DD78-4431-4829-85A5-42F1A7FC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Local document question answering | Windows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A8441-7449-4153-9CB0-BDCDB8F3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62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architecture-0">
            <a:extLst xmlns:a="http://schemas.openxmlformats.org/drawingml/2006/main">
              <a:ext uri="{FF2B5EF4-FFF2-40B4-BE49-F238E27FC236}">
                <a16:creationId xmlns:a16="http://schemas.microsoft.com/office/drawing/2014/main" id="{FF7AF468-23B8-4590-8BB6-020407C6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9953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9" name="architecture-0-accent">
            <a:extLst xmlns:a="http://schemas.openxmlformats.org/drawingml/2006/main">
              <a:ext uri="{FF2B5EF4-FFF2-40B4-BE49-F238E27FC236}">
                <a16:creationId xmlns:a16="http://schemas.microsoft.com/office/drawing/2014/main" id="{876251F5-6116-4029-AA16-2CB1D043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10" name="architecture-0-title">
            <a:extLst xmlns:a="http://schemas.openxmlformats.org/drawingml/2006/main">
              <a:ext uri="{FF2B5EF4-FFF2-40B4-BE49-F238E27FC236}">
                <a16:creationId xmlns:a16="http://schemas.microsoft.com/office/drawing/2014/main" id="{5EB5301D-0EEE-4177-B218-26E7827F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00200"/>
            <a:ext cx="961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Browser UI</a:t>
            </a:r>
          </a:p>
        </p:txBody>
      </p:sp>
      <p:sp>
        <p:nvSpPr>
          <p:cNvPr id="11" name="architecture-0-body">
            <a:extLst xmlns:a="http://schemas.openxmlformats.org/drawingml/2006/main">
              <a:ext uri="{FF2B5EF4-FFF2-40B4-BE49-F238E27FC236}">
                <a16:creationId xmlns:a16="http://schemas.microsoft.com/office/drawing/2014/main" id="{DBD60322-FCB4-486C-A5CF-0433549D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43100"/>
            <a:ext cx="9591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Gradio chat, upload, document picker, citations</a:t>
            </a:r>
          </a:p>
        </p:txBody>
      </p:sp>
      <p:sp>
        <p:nvSpPr>
          <p:cNvPr id="12" name="architecture-1">
            <a:extLst xmlns:a="http://schemas.openxmlformats.org/drawingml/2006/main">
              <a:ext uri="{FF2B5EF4-FFF2-40B4-BE49-F238E27FC236}">
                <a16:creationId xmlns:a16="http://schemas.microsoft.com/office/drawing/2014/main" id="{4599B1A9-8798-4BB1-9215-F5113097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1725"/>
            <a:ext cx="9953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3" name="architecture-1-accent">
            <a:extLst xmlns:a="http://schemas.openxmlformats.org/drawingml/2006/main">
              <a:ext uri="{FF2B5EF4-FFF2-40B4-BE49-F238E27FC236}">
                <a16:creationId xmlns:a16="http://schemas.microsoft.com/office/drawing/2014/main" id="{B83B87F1-08A8-42A7-A537-D454BCAE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1725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F8E"/>
          </a:solidFill>
          <a:ln xmlns:a="http://schemas.openxmlformats.org/drawingml/2006/main" w="0">
            <a:solidFill>
              <a:srgbClr val="0D8F8E"/>
            </a:solidFill>
            <a:prstDash val="solid"/>
          </a:ln>
        </p:spPr>
      </p:sp>
      <p:sp>
        <p:nvSpPr>
          <p:cNvPr id="14" name="architecture-1-title">
            <a:extLst xmlns:a="http://schemas.openxmlformats.org/drawingml/2006/main">
              <a:ext uri="{FF2B5EF4-FFF2-40B4-BE49-F238E27FC236}">
                <a16:creationId xmlns:a16="http://schemas.microsoft.com/office/drawing/2014/main" id="{3C095A86-FF03-4BEE-BCA3-A9978B98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961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5" name="architecture-1-body">
            <a:extLst xmlns:a="http://schemas.openxmlformats.org/drawingml/2006/main">
              <a:ext uri="{FF2B5EF4-FFF2-40B4-BE49-F238E27FC236}">
                <a16:creationId xmlns:a16="http://schemas.microsoft.com/office/drawing/2014/main" id="{DA4398B1-CF9C-4F7F-932C-0D6510BF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9591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Rag.py coordinates validation, retrieval, prompts, and streaming</a:t>
            </a:r>
          </a:p>
        </p:txBody>
      </p:sp>
      <p:sp>
        <p:nvSpPr>
          <p:cNvPr id="17" name="architecture-2">
            <a:extLst xmlns:a="http://schemas.openxmlformats.org/drawingml/2006/main">
              <a:ext uri="{FF2B5EF4-FFF2-40B4-BE49-F238E27FC236}">
                <a16:creationId xmlns:a16="http://schemas.microsoft.com/office/drawing/2014/main" id="{444BD8F1-C21C-4516-9EC1-3D41E5E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9953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8" name="architecture-2-accent">
            <a:extLst xmlns:a="http://schemas.openxmlformats.org/drawingml/2006/main">
              <a:ext uri="{FF2B5EF4-FFF2-40B4-BE49-F238E27FC236}">
                <a16:creationId xmlns:a16="http://schemas.microsoft.com/office/drawing/2014/main" id="{906EC069-4D54-49E9-B990-368B3F66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F3C"/>
          </a:solidFill>
          <a:ln xmlns:a="http://schemas.openxmlformats.org/drawingml/2006/main" w="0">
            <a:solidFill>
              <a:srgbClr val="D75F3C"/>
            </a:solidFill>
            <a:prstDash val="solid"/>
          </a:ln>
        </p:spPr>
      </p:sp>
      <p:sp>
        <p:nvSpPr>
          <p:cNvPr id="19" name="architecture-2-title">
            <a:extLst xmlns:a="http://schemas.openxmlformats.org/drawingml/2006/main">
              <a:ext uri="{FF2B5EF4-FFF2-40B4-BE49-F238E27FC236}">
                <a16:creationId xmlns:a16="http://schemas.microsoft.com/office/drawing/2014/main" id="{3E66503B-C932-479A-B293-9539BCFA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961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0" name="architecture-2-body">
            <a:extLst xmlns:a="http://schemas.openxmlformats.org/drawingml/2006/main">
              <a:ext uri="{FF2B5EF4-FFF2-40B4-BE49-F238E27FC236}">
                <a16:creationId xmlns:a16="http://schemas.microsoft.com/office/drawing/2014/main" id="{5A94CC30-B936-452E-9656-13DAB7FB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9591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LangChain selects chunks from the chosen Chroma collection</a:t>
            </a:r>
          </a:p>
        </p:txBody>
      </p:sp>
      <p:sp>
        <p:nvSpPr>
          <p:cNvPr id="22" name="architecture-3">
            <a:extLst xmlns:a="http://schemas.openxmlformats.org/drawingml/2006/main">
              <a:ext uri="{FF2B5EF4-FFF2-40B4-BE49-F238E27FC236}">
                <a16:creationId xmlns:a16="http://schemas.microsoft.com/office/drawing/2014/main" id="{4541EB9E-67FD-4335-B9A5-97C4DE62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2425"/>
            <a:ext cx="9953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3" name="architecture-3-accent">
            <a:extLst xmlns:a="http://schemas.openxmlformats.org/drawingml/2006/main">
              <a:ext uri="{FF2B5EF4-FFF2-40B4-BE49-F238E27FC236}">
                <a16:creationId xmlns:a16="http://schemas.microsoft.com/office/drawing/2014/main" id="{A5A0DD66-E25E-496D-A8CE-26A3B0FA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2425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781C"/>
          </a:solidFill>
          <a:ln xmlns:a="http://schemas.openxmlformats.org/drawingml/2006/main" w="0">
            <a:solidFill>
              <a:srgbClr val="B8781C"/>
            </a:solidFill>
            <a:prstDash val="solid"/>
          </a:ln>
        </p:spPr>
      </p:sp>
      <p:sp>
        <p:nvSpPr>
          <p:cNvPr id="24" name="architecture-3-title">
            <a:extLst xmlns:a="http://schemas.openxmlformats.org/drawingml/2006/main">
              <a:ext uri="{FF2B5EF4-FFF2-40B4-BE49-F238E27FC236}">
                <a16:creationId xmlns:a16="http://schemas.microsoft.com/office/drawing/2014/main" id="{87BCCE72-90CF-4C34-B3DA-0AFD1D24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961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Local models</a:t>
            </a:r>
          </a:p>
        </p:txBody>
      </p:sp>
      <p:sp>
        <p:nvSpPr>
          <p:cNvPr id="25" name="architecture-3-body">
            <a:extLst xmlns:a="http://schemas.openxmlformats.org/drawingml/2006/main">
              <a:ext uri="{FF2B5EF4-FFF2-40B4-BE49-F238E27FC236}">
                <a16:creationId xmlns:a16="http://schemas.microsoft.com/office/drawing/2014/main" id="{18360394-B14E-48B8-BFA0-2B427DD5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9591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Ollama: Qwen2.5:3b + Nomic + BGE-M3</a:t>
            </a:r>
          </a:p>
        </p:txBody>
      </p:sp>
      <p:sp>
        <p:nvSpPr>
          <p:cNvPr id="27" name="architecture-4">
            <a:extLst xmlns:a="http://schemas.openxmlformats.org/drawingml/2006/main">
              <a:ext uri="{FF2B5EF4-FFF2-40B4-BE49-F238E27FC236}">
                <a16:creationId xmlns:a16="http://schemas.microsoft.com/office/drawing/2014/main" id="{901F3B8D-4D65-46D7-937E-C8C5FCE4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57775"/>
            <a:ext cx="9953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8" name="architecture-4-accent">
            <a:extLst xmlns:a="http://schemas.openxmlformats.org/drawingml/2006/main">
              <a:ext uri="{FF2B5EF4-FFF2-40B4-BE49-F238E27FC236}">
                <a16:creationId xmlns:a16="http://schemas.microsoft.com/office/drawing/2014/main" id="{D2B7CCE6-6F5D-4F64-BE89-B0C4D14A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57775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9" name="architecture-4-title">
            <a:extLst xmlns:a="http://schemas.openxmlformats.org/drawingml/2006/main">
              <a:ext uri="{FF2B5EF4-FFF2-40B4-BE49-F238E27FC236}">
                <a16:creationId xmlns:a16="http://schemas.microsoft.com/office/drawing/2014/main" id="{57D7788E-7ACC-4163-9DDD-9CA882CE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961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Project storage</a:t>
            </a:r>
          </a:p>
        </p:txBody>
      </p:sp>
      <p:sp>
        <p:nvSpPr>
          <p:cNvPr id="30" name="architecture-4-body">
            <a:extLst xmlns:a="http://schemas.openxmlformats.org/drawingml/2006/main">
              <a:ext uri="{FF2B5EF4-FFF2-40B4-BE49-F238E27FC236}">
                <a16:creationId xmlns:a16="http://schemas.microsoft.com/office/drawing/2014/main" id="{06983AF7-785D-4CDF-B8FD-0FA03E57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0"/>
            <a:ext cx="9591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chroma_db, uploads, documents.json, chat_history.json</a:t>
            </a:r>
          </a:p>
        </p:txBody>
      </p:sp>
    </p:spTree>
    <p:extLst>
      <p:ext uri="{BB962C8B-B14F-4D97-AF65-F5344CB8AC3E}">
        <p14:creationId xmlns:p14="http://schemas.microsoft.com/office/powerpoint/2010/main" val="183729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op-rule">
            <a:extLst xmlns:a="http://schemas.openxmlformats.org/drawingml/2006/main">
              <a:ext uri="{FF2B5EF4-FFF2-40B4-BE49-F238E27FC236}">
                <a16:creationId xmlns:a16="http://schemas.microsoft.com/office/drawing/2014/main" id="{867BF30B-F96F-4BEB-B5E0-10B3FCD8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0D58B-A34A-4DAF-A4E0-65726AE4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8F8E"/>
                </a:solidFill>
                <a:latin typeface="Arial"/>
                <a:ea typeface="Arial"/>
                <a:cs typeface="Arial"/>
              </a:rPr>
              <a:t>_VOIS RAG  /  PROJECT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8B91B-C62C-4E40-9165-94A02F92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A32"/>
                </a:solidFill>
                <a:latin typeface="Arial"/>
                <a:ea typeface="Arial"/>
                <a:cs typeface="Arial"/>
              </a:rPr>
              <a:t>Conceptual data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05074-D70B-4C3D-A313-432467A5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Logical relationships across JSON records, uploaded source files, and Chroma vectors. This is not a SQL schema.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E6A3E48-B929-4559-B5E5-6F57234A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6D48A-0BA5-41FE-A476-5C07462A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Local document question answering | Windows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41E71-0987-4188-8E17-09653023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62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erd-document">
            <a:extLst xmlns:a="http://schemas.openxmlformats.org/drawingml/2006/main">
              <a:ext uri="{FF2B5EF4-FFF2-40B4-BE49-F238E27FC236}">
                <a16:creationId xmlns:a16="http://schemas.microsoft.com/office/drawing/2014/main" id="{4B8A69B1-F965-4FA7-8461-191504FA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9" name="erd-document-accent">
            <a:extLst xmlns:a="http://schemas.openxmlformats.org/drawingml/2006/main">
              <a:ext uri="{FF2B5EF4-FFF2-40B4-BE49-F238E27FC236}">
                <a16:creationId xmlns:a16="http://schemas.microsoft.com/office/drawing/2014/main" id="{CB9128B6-9DB8-45BA-BE9C-243DE94A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10" name="erd-document-title">
            <a:extLst xmlns:a="http://schemas.openxmlformats.org/drawingml/2006/main">
              <a:ext uri="{FF2B5EF4-FFF2-40B4-BE49-F238E27FC236}">
                <a16:creationId xmlns:a16="http://schemas.microsoft.com/office/drawing/2014/main" id="{BE5EB869-4C9C-416C-9EE4-13B80397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11" name="erd-document-body">
            <a:extLst xmlns:a="http://schemas.openxmlformats.org/drawingml/2006/main">
              <a:ext uri="{FF2B5EF4-FFF2-40B4-BE49-F238E27FC236}">
                <a16:creationId xmlns:a16="http://schemas.microsoft.com/office/drawing/2014/main" id="{C435DEF4-0FBC-4611-9627-7531CE1B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2781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name, original_filename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status, created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collection, embedding_model</a:t>
            </a:r>
          </a:p>
        </p:txBody>
      </p:sp>
      <p:sp>
        <p:nvSpPr>
          <p:cNvPr id="12" name="erd-chat">
            <a:extLst xmlns:a="http://schemas.openxmlformats.org/drawingml/2006/main">
              <a:ext uri="{FF2B5EF4-FFF2-40B4-BE49-F238E27FC236}">
                <a16:creationId xmlns:a16="http://schemas.microsoft.com/office/drawing/2014/main" id="{C8D380F5-C7EE-4576-A440-6D964B5C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3" name="erd-chat-accent">
            <a:extLst xmlns:a="http://schemas.openxmlformats.org/drawingml/2006/main">
              <a:ext uri="{FF2B5EF4-FFF2-40B4-BE49-F238E27FC236}">
                <a16:creationId xmlns:a16="http://schemas.microsoft.com/office/drawing/2014/main" id="{25A2082F-D0C2-4D5E-B2CE-64C4DEFD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F8E"/>
          </a:solidFill>
          <a:ln xmlns:a="http://schemas.openxmlformats.org/drawingml/2006/main" w="0">
            <a:solidFill>
              <a:srgbClr val="0D8F8E"/>
            </a:solidFill>
            <a:prstDash val="solid"/>
          </a:ln>
        </p:spPr>
      </p:sp>
      <p:sp>
        <p:nvSpPr>
          <p:cNvPr id="14" name="erd-chat-title">
            <a:extLst xmlns:a="http://schemas.openxmlformats.org/drawingml/2006/main">
              <a:ext uri="{FF2B5EF4-FFF2-40B4-BE49-F238E27FC236}">
                <a16:creationId xmlns:a16="http://schemas.microsoft.com/office/drawing/2014/main" id="{E3F854BA-35AD-4479-A258-EDC4880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243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Chat</a:t>
            </a:r>
          </a:p>
        </p:txBody>
      </p:sp>
      <p:sp>
        <p:nvSpPr>
          <p:cNvPr id="15" name="erd-chat-body">
            <a:extLst xmlns:a="http://schemas.openxmlformats.org/drawingml/2006/main">
              <a:ext uri="{FF2B5EF4-FFF2-40B4-BE49-F238E27FC236}">
                <a16:creationId xmlns:a16="http://schemas.microsoft.com/office/drawing/2014/main" id="{762EE007-8A0D-4F02-9890-94CA296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67225"/>
            <a:ext cx="2781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FK doc_id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title, order, created, updated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messages[]</a:t>
            </a:r>
          </a:p>
        </p:txBody>
      </p:sp>
      <p:sp>
        <p:nvSpPr>
          <p:cNvPr id="16" name="erd-message">
            <a:extLst xmlns:a="http://schemas.openxmlformats.org/drawingml/2006/main">
              <a:ext uri="{FF2B5EF4-FFF2-40B4-BE49-F238E27FC236}">
                <a16:creationId xmlns:a16="http://schemas.microsoft.com/office/drawing/2014/main" id="{16E395DF-62BA-48F3-BD53-8FC4E4BA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7" name="erd-message-accent">
            <a:extLst xmlns:a="http://schemas.openxmlformats.org/drawingml/2006/main">
              <a:ext uri="{FF2B5EF4-FFF2-40B4-BE49-F238E27FC236}">
                <a16:creationId xmlns:a16="http://schemas.microsoft.com/office/drawing/2014/main" id="{7A8AA2CD-AB26-47AE-AE95-DE6184BF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F3C"/>
          </a:solidFill>
          <a:ln xmlns:a="http://schemas.openxmlformats.org/drawingml/2006/main" w="0">
            <a:solidFill>
              <a:srgbClr val="D75F3C"/>
            </a:solidFill>
            <a:prstDash val="solid"/>
          </a:ln>
        </p:spPr>
      </p:sp>
      <p:sp>
        <p:nvSpPr>
          <p:cNvPr id="18" name="erd-message-title">
            <a:extLst xmlns:a="http://schemas.openxmlformats.org/drawingml/2006/main">
              <a:ext uri="{FF2B5EF4-FFF2-40B4-BE49-F238E27FC236}">
                <a16:creationId xmlns:a16="http://schemas.microsoft.com/office/drawing/2014/main" id="{CD76CB3A-F858-4E27-8203-8D825C79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243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Message (nested)</a:t>
            </a:r>
          </a:p>
        </p:txBody>
      </p:sp>
      <p:sp>
        <p:nvSpPr>
          <p:cNvPr id="19" name="erd-message-body">
            <a:extLst xmlns:a="http://schemas.openxmlformats.org/drawingml/2006/main">
              <a:ext uri="{FF2B5EF4-FFF2-40B4-BE49-F238E27FC236}">
                <a16:creationId xmlns:a16="http://schemas.microsoft.com/office/drawing/2014/main" id="{9EEF77BE-E2A5-469C-83DE-570E8668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67225"/>
            <a:ext cx="2781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role: user / assistant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content: text or multimodal input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Stored in Chat.messages[]</a:t>
            </a:r>
          </a:p>
        </p:txBody>
      </p:sp>
      <p:sp>
        <p:nvSpPr>
          <p:cNvPr id="20" name="erd-upload">
            <a:extLst xmlns:a="http://schemas.openxmlformats.org/drawingml/2006/main">
              <a:ext uri="{FF2B5EF4-FFF2-40B4-BE49-F238E27FC236}">
                <a16:creationId xmlns:a16="http://schemas.microsoft.com/office/drawing/2014/main" id="{E166F610-7F0F-4ECA-BA01-DD1EB820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1" name="erd-upload-accent">
            <a:extLst xmlns:a="http://schemas.openxmlformats.org/drawingml/2006/main">
              <a:ext uri="{FF2B5EF4-FFF2-40B4-BE49-F238E27FC236}">
                <a16:creationId xmlns:a16="http://schemas.microsoft.com/office/drawing/2014/main" id="{B7F9C369-5340-4E20-9309-63DA39D7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781C"/>
          </a:solidFill>
          <a:ln xmlns:a="http://schemas.openxmlformats.org/drawingml/2006/main" w="0">
            <a:solidFill>
              <a:srgbClr val="B8781C"/>
            </a:solidFill>
            <a:prstDash val="solid"/>
          </a:ln>
        </p:spPr>
      </p:sp>
      <p:sp>
        <p:nvSpPr>
          <p:cNvPr id="22" name="erd-upload-title">
            <a:extLst xmlns:a="http://schemas.openxmlformats.org/drawingml/2006/main">
              <a:ext uri="{FF2B5EF4-FFF2-40B4-BE49-F238E27FC236}">
                <a16:creationId xmlns:a16="http://schemas.microsoft.com/office/drawing/2014/main" id="{D3F9B56D-23DA-4527-8609-63141975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Upload asset</a:t>
            </a:r>
          </a:p>
        </p:txBody>
      </p:sp>
      <p:sp>
        <p:nvSpPr>
          <p:cNvPr id="23" name="erd-upload-body">
            <a:extLst xmlns:a="http://schemas.openxmlformats.org/drawingml/2006/main">
              <a:ext uri="{FF2B5EF4-FFF2-40B4-BE49-F238E27FC236}">
                <a16:creationId xmlns:a16="http://schemas.microsoft.com/office/drawing/2014/main" id="{692A8DEF-3E19-44F7-87BF-5347D281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781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PDF / DOCX / PPTX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.doc_id-based filename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.tools/uploads</a:t>
            </a:r>
          </a:p>
        </p:txBody>
      </p:sp>
      <p:sp>
        <p:nvSpPr>
          <p:cNvPr id="24" name="erd-collection">
            <a:extLst xmlns:a="http://schemas.openxmlformats.org/drawingml/2006/main">
              <a:ext uri="{FF2B5EF4-FFF2-40B4-BE49-F238E27FC236}">
                <a16:creationId xmlns:a16="http://schemas.microsoft.com/office/drawing/2014/main" id="{B0A0B9B8-4DED-4D95-8246-F09FF78B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5" name="erd-collection-accent">
            <a:extLst xmlns:a="http://schemas.openxmlformats.org/drawingml/2006/main">
              <a:ext uri="{FF2B5EF4-FFF2-40B4-BE49-F238E27FC236}">
                <a16:creationId xmlns:a16="http://schemas.microsoft.com/office/drawing/2014/main" id="{58DB9BC2-9048-4236-BA67-F20E6E4C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6" name="erd-collection-title">
            <a:extLst xmlns:a="http://schemas.openxmlformats.org/drawingml/2006/main">
              <a:ext uri="{FF2B5EF4-FFF2-40B4-BE49-F238E27FC236}">
                <a16:creationId xmlns:a16="http://schemas.microsoft.com/office/drawing/2014/main" id="{4A83A0F3-7A09-4EC6-9852-6D5C0A0B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954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Chroma collection</a:t>
            </a:r>
          </a:p>
        </p:txBody>
      </p:sp>
      <p:sp>
        <p:nvSpPr>
          <p:cNvPr id="27" name="erd-collection-body">
            <a:extLst xmlns:a="http://schemas.openxmlformats.org/drawingml/2006/main">
              <a:ext uri="{FF2B5EF4-FFF2-40B4-BE49-F238E27FC236}">
                <a16:creationId xmlns:a16="http://schemas.microsoft.com/office/drawing/2014/main" id="{549F7D19-A9A2-46B0-B361-ABC4AB46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38350"/>
            <a:ext cx="2781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One collection per document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Persistent vector index</a:t>
            </a:r>
          </a:p>
        </p:txBody>
      </p:sp>
      <p:sp>
        <p:nvSpPr>
          <p:cNvPr id="28" name="erd-chunk">
            <a:extLst xmlns:a="http://schemas.openxmlformats.org/drawingml/2006/main">
              <a:ext uri="{FF2B5EF4-FFF2-40B4-BE49-F238E27FC236}">
                <a16:creationId xmlns:a16="http://schemas.microsoft.com/office/drawing/2014/main" id="{19808414-CD52-4A89-9458-4BB72DEE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71625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9" name="erd-chunk-accent">
            <a:extLst xmlns:a="http://schemas.openxmlformats.org/drawingml/2006/main">
              <a:ext uri="{FF2B5EF4-FFF2-40B4-BE49-F238E27FC236}">
                <a16:creationId xmlns:a16="http://schemas.microsoft.com/office/drawing/2014/main" id="{478BBA29-1510-4223-91F3-38758B93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71625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F8E"/>
          </a:solidFill>
          <a:ln xmlns:a="http://schemas.openxmlformats.org/drawingml/2006/main" w="0">
            <a:solidFill>
              <a:srgbClr val="0D8F8E"/>
            </a:solidFill>
            <a:prstDash val="solid"/>
          </a:ln>
        </p:spPr>
      </p:sp>
      <p:sp>
        <p:nvSpPr>
          <p:cNvPr id="30" name="erd-chunk-title">
            <a:extLst xmlns:a="http://schemas.openxmlformats.org/drawingml/2006/main">
              <a:ext uri="{FF2B5EF4-FFF2-40B4-BE49-F238E27FC236}">
                <a16:creationId xmlns:a16="http://schemas.microsoft.com/office/drawing/2014/main" id="{712AB029-1B14-4F47-9CE9-20FB794F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954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Vector chunk</a:t>
            </a:r>
          </a:p>
        </p:txBody>
      </p:sp>
      <p:sp>
        <p:nvSpPr>
          <p:cNvPr id="31" name="erd-chunk-body">
            <a:extLst xmlns:a="http://schemas.openxmlformats.org/drawingml/2006/main">
              <a:ext uri="{FF2B5EF4-FFF2-40B4-BE49-F238E27FC236}">
                <a16:creationId xmlns:a16="http://schemas.microsoft.com/office/drawing/2014/main" id="{4E575480-853C-4EA1-88A6-26B765B3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38350"/>
            <a:ext cx="2781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Text + embedding</a:t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Source/page or slide metadata</a:t>
            </a:r>
          </a:p>
        </p:txBody>
      </p:sp>
      <p:sp>
        <p:nvSpPr>
          <p:cNvPr id="32" name="rel-document-chat">
            <a:extLst xmlns:a="http://schemas.openxmlformats.org/drawingml/2006/main">
              <a:ext uri="{FF2B5EF4-FFF2-40B4-BE49-F238E27FC236}">
                <a16:creationId xmlns:a16="http://schemas.microsoft.com/office/drawing/2014/main" id="{A7460362-426F-47C3-A656-70762CE7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14875"/>
            <a:ext cx="79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8F8E"/>
            </a:solidFill>
            <a:prstDash val="solid"/>
          </a:ln>
        </p:spPr>
      </p:sp>
      <p:sp>
        <p:nvSpPr>
          <p:cNvPr id="33" name="rel-chat-message">
            <a:extLst xmlns:a="http://schemas.openxmlformats.org/drawingml/2006/main">
              <a:ext uri="{FF2B5EF4-FFF2-40B4-BE49-F238E27FC236}">
                <a16:creationId xmlns:a16="http://schemas.microsoft.com/office/drawing/2014/main" id="{6144A3CB-C3C0-45EB-AE2C-4C21B041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14875"/>
            <a:ext cx="79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8F8E"/>
            </a:solidFill>
            <a:prstDash val="solid"/>
          </a:ln>
        </p:spPr>
      </p:sp>
      <p:sp>
        <p:nvSpPr>
          <p:cNvPr id="34" name="rel-document-upload">
            <a:extLst xmlns:a="http://schemas.openxmlformats.org/drawingml/2006/main">
              <a:ext uri="{FF2B5EF4-FFF2-40B4-BE49-F238E27FC236}">
                <a16:creationId xmlns:a16="http://schemas.microsoft.com/office/drawing/2014/main" id="{5952C33A-FA5D-463E-9515-1FDA80A2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28925"/>
            <a:ext cx="0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5F3C"/>
            </a:solidFill>
            <a:prstDash val="solid"/>
          </a:ln>
        </p:spPr>
      </p:sp>
      <p:sp>
        <p:nvSpPr>
          <p:cNvPr id="35" name="rel-document-collection">
            <a:extLst xmlns:a="http://schemas.openxmlformats.org/drawingml/2006/main">
              <a:ext uri="{FF2B5EF4-FFF2-40B4-BE49-F238E27FC236}">
                <a16:creationId xmlns:a16="http://schemas.microsoft.com/office/drawing/2014/main" id="{26B9FBD5-2C3F-46B9-A986-830FC165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0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54DE"/>
            </a:solidFill>
            <a:prstDash val="solid"/>
          </a:ln>
        </p:spPr>
      </p:sp>
      <p:sp>
        <p:nvSpPr>
          <p:cNvPr id="36" name="rel-collection-chunk">
            <a:extLst xmlns:a="http://schemas.openxmlformats.org/drawingml/2006/main">
              <a:ext uri="{FF2B5EF4-FFF2-40B4-BE49-F238E27FC236}">
                <a16:creationId xmlns:a16="http://schemas.microsoft.com/office/drawing/2014/main" id="{D0E54508-8EFE-46F3-B251-C82C5700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0275"/>
            <a:ext cx="79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8F8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C545B7-538D-4CC1-A79E-9B9056B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4291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1 : many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198D9A-3B21-4C76-8BA3-9BAEB81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291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1 : many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A55257-BFCC-4B23-BB25-7D8980E9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575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1 : 0..1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47CDE5-BE19-4662-BE0E-57C9BAF7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1 : 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BEE7D0-AE08-49A7-A2FB-07256773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05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1 : many</a:t>
            </a:r>
          </a:p>
        </p:txBody>
      </p:sp>
    </p:spTree>
    <p:extLst>
      <p:ext uri="{BB962C8B-B14F-4D97-AF65-F5344CB8AC3E}">
        <p14:creationId xmlns:p14="http://schemas.microsoft.com/office/powerpoint/2010/main" val="370958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ule">
            <a:extLst xmlns:a="http://schemas.openxmlformats.org/drawingml/2006/main">
              <a:ext uri="{FF2B5EF4-FFF2-40B4-BE49-F238E27FC236}">
                <a16:creationId xmlns:a16="http://schemas.microsoft.com/office/drawing/2014/main" id="{48D71005-03DF-44C6-836D-BDB499C8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90B2A-9A57-40CC-BDA8-096E200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8F8E"/>
                </a:solidFill>
                <a:latin typeface="Arial"/>
                <a:ea typeface="Arial"/>
                <a:cs typeface="Arial"/>
              </a:rPr>
              <a:t>_VOIS RAG  /  PROJECT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FCEDE-2937-4B96-8108-A70B669B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A32"/>
                </a:solidFill>
                <a:latin typeface="Arial"/>
                <a:ea typeface="Arial"/>
                <a:cs typeface="Arial"/>
              </a:rPr>
              <a:t>English and Arabic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0A076-11B5-485F-91F2-AD464899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Language-aware indexing helps retrieval, while answer quality remains tied to source quality and model behavior.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BA37C79-BC34-4438-8D68-4E9890D8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D8D34-6ED0-4FA9-9C2D-58AD33C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Local document question answering | Windows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4D195-694E-4E72-829B-A805440B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62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language-en">
            <a:extLst xmlns:a="http://schemas.openxmlformats.org/drawingml/2006/main">
              <a:ext uri="{FF2B5EF4-FFF2-40B4-BE49-F238E27FC236}">
                <a16:creationId xmlns:a16="http://schemas.microsoft.com/office/drawing/2014/main" id="{EE170111-9603-4F34-BA50-C5ABFA71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5143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9" name="language-en-accent">
            <a:extLst xmlns:a="http://schemas.openxmlformats.org/drawingml/2006/main">
              <a:ext uri="{FF2B5EF4-FFF2-40B4-BE49-F238E27FC236}">
                <a16:creationId xmlns:a16="http://schemas.microsoft.com/office/drawing/2014/main" id="{6FFC61B2-5B9F-4DBA-93F1-EBC40B55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66675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10" name="language-en-title">
            <a:extLst xmlns:a="http://schemas.openxmlformats.org/drawingml/2006/main">
              <a:ext uri="{FF2B5EF4-FFF2-40B4-BE49-F238E27FC236}">
                <a16:creationId xmlns:a16="http://schemas.microsoft.com/office/drawing/2014/main" id="{8C0F9C41-5C29-40C5-9CDA-A8B7A535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480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11" name="language-en-body">
            <a:extLst xmlns:a="http://schemas.openxmlformats.org/drawingml/2006/main">
              <a:ext uri="{FF2B5EF4-FFF2-40B4-BE49-F238E27FC236}">
                <a16:creationId xmlns:a16="http://schemas.microsoft.com/office/drawing/2014/main" id="{EFB4338E-146B-4D33-A61F-6C0740CD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4781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English-heavy documents use nomic-embed-text.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Queries are embedded with the same model as the selected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Answers should remain in the question's language.</a:t>
            </a:r>
          </a:p>
        </p:txBody>
      </p:sp>
      <p:sp>
        <p:nvSpPr>
          <p:cNvPr id="12" name="language-ar">
            <a:extLst xmlns:a="http://schemas.openxmlformats.org/drawingml/2006/main">
              <a:ext uri="{FF2B5EF4-FFF2-40B4-BE49-F238E27FC236}">
                <a16:creationId xmlns:a16="http://schemas.microsoft.com/office/drawing/2014/main" id="{79AF0DE9-90D5-4953-8372-83173CAF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71850"/>
            <a:ext cx="5143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3" name="language-ar-accent">
            <a:extLst xmlns:a="http://schemas.openxmlformats.org/drawingml/2006/main">
              <a:ext uri="{FF2B5EF4-FFF2-40B4-BE49-F238E27FC236}">
                <a16:creationId xmlns:a16="http://schemas.microsoft.com/office/drawing/2014/main" id="{F3853969-6A06-42FB-BF35-0EFB21FB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71850"/>
            <a:ext cx="66675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F8E"/>
          </a:solidFill>
          <a:ln xmlns:a="http://schemas.openxmlformats.org/drawingml/2006/main" w="0">
            <a:solidFill>
              <a:srgbClr val="0D8F8E"/>
            </a:solidFill>
            <a:prstDash val="solid"/>
          </a:ln>
        </p:spPr>
      </p:sp>
      <p:sp>
        <p:nvSpPr>
          <p:cNvPr id="14" name="language-ar-title">
            <a:extLst xmlns:a="http://schemas.openxmlformats.org/drawingml/2006/main">
              <a:ext uri="{FF2B5EF4-FFF2-40B4-BE49-F238E27FC236}">
                <a16:creationId xmlns:a16="http://schemas.microsoft.com/office/drawing/2014/main" id="{257DDFCF-B78C-4469-AD90-7E1EF2FA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95675"/>
            <a:ext cx="480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Arabic</a:t>
            </a:r>
          </a:p>
        </p:txBody>
      </p:sp>
      <p:sp>
        <p:nvSpPr>
          <p:cNvPr id="15" name="language-ar-body">
            <a:extLst xmlns:a="http://schemas.openxmlformats.org/drawingml/2006/main">
              <a:ext uri="{FF2B5EF4-FFF2-40B4-BE49-F238E27FC236}">
                <a16:creationId xmlns:a16="http://schemas.microsoft.com/office/drawing/2014/main" id="{1104166E-799F-442C-96CF-1676236A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38575"/>
            <a:ext cx="4781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Arabic-heavy documents use multilingual BGE-M3.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Arabic questions against English-only indexes may be translated for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The original Arabic question is preserved for answer generation.</a:t>
            </a:r>
          </a:p>
        </p:txBody>
      </p:sp>
      <p:sp>
        <p:nvSpPr>
          <p:cNvPr id="16" name="language-quality">
            <a:extLst xmlns:a="http://schemas.openxmlformats.org/drawingml/2006/main">
              <a:ext uri="{FF2B5EF4-FFF2-40B4-BE49-F238E27FC236}">
                <a16:creationId xmlns:a16="http://schemas.microsoft.com/office/drawing/2014/main" id="{B413EC49-5768-4D9C-9148-D26E2AF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6108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7" name="language-quality-accent">
            <a:extLst xmlns:a="http://schemas.openxmlformats.org/drawingml/2006/main">
              <a:ext uri="{FF2B5EF4-FFF2-40B4-BE49-F238E27FC236}">
                <a16:creationId xmlns:a16="http://schemas.microsoft.com/office/drawing/2014/main" id="{50D6F663-3155-464B-9CE1-734A162E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F3C"/>
          </a:solidFill>
          <a:ln xmlns:a="http://schemas.openxmlformats.org/drawingml/2006/main" w="0">
            <a:solidFill>
              <a:srgbClr val="D75F3C"/>
            </a:solidFill>
            <a:prstDash val="solid"/>
          </a:ln>
        </p:spPr>
      </p:sp>
      <p:sp>
        <p:nvSpPr>
          <p:cNvPr id="18" name="language-quality-title">
            <a:extLst xmlns:a="http://schemas.openxmlformats.org/drawingml/2006/main">
              <a:ext uri="{FF2B5EF4-FFF2-40B4-BE49-F238E27FC236}">
                <a16:creationId xmlns:a16="http://schemas.microsoft.com/office/drawing/2014/main" id="{23A85068-FEB2-4232-BF4E-080599CB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47825"/>
            <a:ext cx="1026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Latency and accuracy</a:t>
            </a:r>
          </a:p>
        </p:txBody>
      </p:sp>
      <p:sp>
        <p:nvSpPr>
          <p:cNvPr id="19" name="language-quality-body">
            <a:extLst xmlns:a="http://schemas.openxmlformats.org/drawingml/2006/main">
              <a:ext uri="{FF2B5EF4-FFF2-40B4-BE49-F238E27FC236}">
                <a16:creationId xmlns:a16="http://schemas.microsoft.com/office/drawing/2014/main" id="{CA78277F-2D70-4E84-BD29-3421FDB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10248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The first cross-language search can be slower because it adds a model call. Repeated identical search translations are cached. The answer includes source page/slide references, but citations do not guarantee correctness. Open the cited source to verify important facts.</a:t>
            </a:r>
          </a:p>
        </p:txBody>
      </p:sp>
    </p:spTree>
    <p:extLst>
      <p:ext uri="{BB962C8B-B14F-4D97-AF65-F5344CB8AC3E}">
        <p14:creationId xmlns:p14="http://schemas.microsoft.com/office/powerpoint/2010/main" val="14272608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4B9D698D-4D54-4504-B7B2-F0C82B26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16D8E-3377-4255-AE9E-63DF2F73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8F8E"/>
                </a:solidFill>
                <a:latin typeface="Arial"/>
                <a:ea typeface="Arial"/>
                <a:cs typeface="Arial"/>
              </a:rPr>
              <a:t>_VOIS RAG  /  PROJECT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F0B82-BD8B-4A25-98A2-D7E6F4F2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1A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A32"/>
                </a:solidFill>
                <a:latin typeface="Arial"/>
                <a:ea typeface="Arial"/>
                <a:cs typeface="Arial"/>
              </a:rPr>
              <a:t>Operations and safeguards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43B10-586D-4A11-BD0E-F7DDF97B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Keep the service local, protect the project data, and verify answers against their sources.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052FC90-CCA4-4657-99EC-49EA6F50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44ADF-23C2-4D2D-A80C-C11BC86C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Local document question answering | Windows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1F7A4-2145-4ECB-947C-CD4E10C5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62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ops-trouble">
            <a:extLst xmlns:a="http://schemas.openxmlformats.org/drawingml/2006/main">
              <a:ext uri="{FF2B5EF4-FFF2-40B4-BE49-F238E27FC236}">
                <a16:creationId xmlns:a16="http://schemas.microsoft.com/office/drawing/2014/main" id="{1730FA33-FDFB-4A66-A71E-EA06694C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9" name="ops-trouble-accent">
            <a:extLst xmlns:a="http://schemas.openxmlformats.org/drawingml/2006/main">
              <a:ext uri="{FF2B5EF4-FFF2-40B4-BE49-F238E27FC236}">
                <a16:creationId xmlns:a16="http://schemas.microsoft.com/office/drawing/2014/main" id="{5F1B7B51-C963-422C-BABF-52972C48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66675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54DE"/>
          </a:solidFill>
          <a:ln xmlns:a="http://schemas.openxmlformats.org/drawingml/2006/main" w="0">
            <a:solidFill>
              <a:srgbClr val="6254DE"/>
            </a:solidFill>
            <a:prstDash val="solid"/>
          </a:ln>
        </p:spPr>
      </p:sp>
      <p:sp>
        <p:nvSpPr>
          <p:cNvPr id="10" name="ops-trouble-title">
            <a:extLst xmlns:a="http://schemas.openxmlformats.org/drawingml/2006/main">
              <a:ext uri="{FF2B5EF4-FFF2-40B4-BE49-F238E27FC236}">
                <a16:creationId xmlns:a16="http://schemas.microsoft.com/office/drawing/2014/main" id="{26985541-187D-48D3-B17A-D55A3D8F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480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Troubleshooting</a:t>
            </a:r>
          </a:p>
        </p:txBody>
      </p:sp>
      <p:sp>
        <p:nvSpPr>
          <p:cNvPr id="11" name="ops-trouble-body">
            <a:extLst xmlns:a="http://schemas.openxmlformats.org/drawingml/2006/main">
              <a:ext uri="{FF2B5EF4-FFF2-40B4-BE49-F238E27FC236}">
                <a16:creationId xmlns:a16="http://schemas.microsoft.com/office/drawing/2014/main" id="{A59649EC-1385-4A92-8C3B-268DA200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47815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App unavailable: check Gradio startup and port 7860.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Ollama unavailable: confirm 127.0.0.1:11435 responds.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Model missing: pull the exact required model tag.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No extracted text: check source readability; scanned PDFs need optional Tesseract OCR.</a:t>
            </a:r>
          </a:p>
        </p:txBody>
      </p:sp>
      <p:sp>
        <p:nvSpPr>
          <p:cNvPr id="12" name="ops-security">
            <a:extLst xmlns:a="http://schemas.openxmlformats.org/drawingml/2006/main">
              <a:ext uri="{FF2B5EF4-FFF2-40B4-BE49-F238E27FC236}">
                <a16:creationId xmlns:a16="http://schemas.microsoft.com/office/drawing/2014/main" id="{D4E762C4-C0F5-4D16-9D89-3897B92E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3" name="ops-security-accent">
            <a:extLst xmlns:a="http://schemas.openxmlformats.org/drawingml/2006/main">
              <a:ext uri="{FF2B5EF4-FFF2-40B4-BE49-F238E27FC236}">
                <a16:creationId xmlns:a16="http://schemas.microsoft.com/office/drawing/2014/main" id="{30CD55AE-ED66-4715-9933-8A2347C4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66675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F3C"/>
          </a:solidFill>
          <a:ln xmlns:a="http://schemas.openxmlformats.org/drawingml/2006/main" w="0">
            <a:solidFill>
              <a:srgbClr val="D75F3C"/>
            </a:solidFill>
            <a:prstDash val="solid"/>
          </a:ln>
        </p:spPr>
      </p:sp>
      <p:sp>
        <p:nvSpPr>
          <p:cNvPr id="14" name="ops-security-title">
            <a:extLst xmlns:a="http://schemas.openxmlformats.org/drawingml/2006/main">
              <a:ext uri="{FF2B5EF4-FFF2-40B4-BE49-F238E27FC236}">
                <a16:creationId xmlns:a16="http://schemas.microsoft.com/office/drawing/2014/main" id="{25391BBB-2C33-4A72-BC6D-D009C947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57575"/>
            <a:ext cx="480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3A"/>
                </a:solidFill>
                <a:latin typeface="Arial"/>
                <a:ea typeface="Arial"/>
                <a:cs typeface="Arial"/>
              </a:rPr>
              <a:t>Security and privacy</a:t>
            </a:r>
          </a:p>
        </p:txBody>
      </p:sp>
      <p:sp>
        <p:nvSpPr>
          <p:cNvPr id="15" name="ops-security-body">
            <a:extLst xmlns:a="http://schemas.openxmlformats.org/drawingml/2006/main">
              <a:ext uri="{FF2B5EF4-FFF2-40B4-BE49-F238E27FC236}">
                <a16:creationId xmlns:a16="http://schemas.microsoft.com/office/drawing/2014/main" id="{E3976B6A-1E56-410F-AEE2-13189CDD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00475"/>
            <a:ext cx="47815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Default app bind is loopback. Do not expose it without credentials and TLS.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Local files and indexes are not encrypted by the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Treat document text as untrusted; verify critical answers in cited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Back up uploads, JSON registries, and Chroma data together.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494D6-B32C-4444-B60D-41C5FF5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D8F8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8F8E"/>
                </a:solidFill>
                <a:latin typeface="Arial"/>
                <a:ea typeface="Arial"/>
                <a:cs typeface="Arial"/>
              </a:rPr>
              <a:t>Project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BB897-91C6-4670-9882-746EE20E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24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243A"/>
                </a:solidFill>
                <a:latin typeface="Arial"/>
                <a:ea typeface="Arial"/>
                <a:cs typeface="Arial"/>
              </a:rPr>
              <a:t>.tools\ollama-models  |  .tools\uploads  |  .tools\documents.json  |  .tools\chat_history.json  |  chroma_db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961AB-1F9A-481F-A05B-B37C04C3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662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27A"/>
                </a:solidFill>
                <a:latin typeface="Arial"/>
                <a:ea typeface="Arial"/>
                <a:cs typeface="Arial"/>
              </a:rPr>
              <a:t>Optional tuning: RAG_KEEP_ALIVE (10m), RAG_CTX (6144), RAG_TOP_K (5), RAG_RETRIEVAL_DIVERSITY (0.75).</a:t>
            </a:r>
          </a:p>
        </p:txBody>
      </p:sp>
    </p:spTree>
    <p:extLst>
      <p:ext uri="{BB962C8B-B14F-4D97-AF65-F5344CB8AC3E}">
        <p14:creationId xmlns:p14="http://schemas.microsoft.com/office/powerpoint/2010/main" val="1836424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2026-10-15T13:00:52.5860000Z</dcterms:created>
  <dcterms:modified xsi:type="dcterms:W3CDTF">2026-10-15T13:00:52.5870000Z</dcterms:modified>
</coreProperties>
</file>